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thermal activation ∝ exp(-ΔE/kT)</c:v>
                </c:pt>
              </c:strCache>
            </c:strRef>
          </c:tx>
          <c:spPr>
            <a:solidFill>
              <a:srgbClr val="35D5FF"/>
            </a:solidFill>
            <a:ln w="38100" cap="flat">
              <a:solidFill>
                <a:srgbClr val="35D5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5D5FF"/>
              </a:solidFill>
              <a:ln w="9525" cap="flat">
                <a:solidFill>
                  <a:srgbClr val="35D5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0.01</c:v>
                  </c:pt>
                  <c:pt idx="1">
                    <c:v>0.04</c:v>
                  </c:pt>
                  <c:pt idx="2">
                    <c:v>0.06</c:v>
                  </c:pt>
                  <c:pt idx="3">
                    <c:v>0.09</c:v>
                  </c:pt>
                  <c:pt idx="4">
                    <c:v>0.11</c:v>
                  </c:pt>
                  <c:pt idx="5">
                    <c:v>0.14</c:v>
                  </c:pt>
                  <c:pt idx="6">
                    <c:v>0.16</c:v>
                  </c:pt>
                  <c:pt idx="7">
                    <c:v>0.18</c:v>
                  </c:pt>
                  <c:pt idx="8">
                    <c:v>0.21</c:v>
                  </c:pt>
                  <c:pt idx="9">
                    <c:v>0.23</c:v>
                  </c:pt>
                  <c:pt idx="10">
                    <c:v>0.26</c:v>
                  </c:pt>
                  <c:pt idx="11">
                    <c:v>0.29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0.6791948711269361</c:v>
                </c:pt>
                <c:pt idx="1">
                  <c:v>0.2582143606615386</c:v>
                </c:pt>
                <c:pt idx="2">
                  <c:v>0.09816719602316634</c:v>
                </c:pt>
                <c:pt idx="3">
                  <c:v>0.037320923400083285</c:v>
                </c:pt>
                <c:pt idx="4">
                  <c:v>0.014188561758514401</c:v>
                </c:pt>
                <c:pt idx="5">
                  <c:v>0.005394166768519131</c:v>
                </c:pt>
                <c:pt idx="6">
                  <c:v>0.00205073887134017</c:v>
                </c:pt>
                <c:pt idx="7">
                  <c:v>0.0007796440300973686</c:v>
                </c:pt>
                <c:pt idx="8">
                  <c:v>0.000296402834198601</c:v>
                </c:pt>
                <c:pt idx="9">
                  <c:v>0.00011268558050780087</c:v>
                </c:pt>
                <c:pt idx="10">
                  <c:v>0.00004284048122789503</c:v>
                </c:pt>
                <c:pt idx="11">
                  <c:v>0.000016286971443614095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1C3556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1C355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ΔEₛₜ tendency</c:v>
                </c:pt>
              </c:strCache>
            </c:strRef>
          </c:tx>
          <c:spPr>
            <a:solidFill>
              <a:srgbClr val="FF4D6D"/>
            </a:solidFill>
            <a:ln w="38100" cap="flat">
              <a:solidFill>
                <a:srgbClr val="FF4D6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4D6D"/>
              </a:solidFill>
              <a:ln w="9525" cap="flat">
                <a:solidFill>
                  <a:srgbClr val="FF4D6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0.0</c:v>
                  </c:pt>
                  <c:pt idx="1">
                    <c:v>0.1</c:v>
                  </c:pt>
                  <c:pt idx="2">
                    <c:v>0.2</c:v>
                  </c:pt>
                  <c:pt idx="3">
                    <c:v>0.3</c:v>
                  </c:pt>
                  <c:pt idx="4">
                    <c:v>0.4</c:v>
                  </c:pt>
                  <c:pt idx="5">
                    <c:v>0.5</c:v>
                  </c:pt>
                  <c:pt idx="6">
                    <c:v>0.6</c:v>
                  </c:pt>
                  <c:pt idx="7">
                    <c:v>0.7</c:v>
                  </c:pt>
                  <c:pt idx="8">
                    <c:v>0.8</c:v>
                  </c:pt>
                  <c:pt idx="9">
                    <c:v>0.9</c:v>
                  </c:pt>
                  <c:pt idx="10">
                    <c:v>1.0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0.02</c:v>
                </c:pt>
                <c:pt idx="1">
                  <c:v>0.023200000000000002</c:v>
                </c:pt>
                <c:pt idx="2">
                  <c:v>0.0328</c:v>
                </c:pt>
                <c:pt idx="3">
                  <c:v>0.048799999999999996</c:v>
                </c:pt>
                <c:pt idx="4">
                  <c:v>0.0712</c:v>
                </c:pt>
                <c:pt idx="5">
                  <c:v>0.1</c:v>
                </c:pt>
                <c:pt idx="6">
                  <c:v>0.1352</c:v>
                </c:pt>
                <c:pt idx="7">
                  <c:v>0.17679999999999996</c:v>
                </c:pt>
                <c:pt idx="8">
                  <c:v>0.2248</c:v>
                </c:pt>
                <c:pt idx="9">
                  <c:v>0.27920000000000006</c:v>
                </c:pt>
                <c:pt idx="10">
                  <c:v>0.34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oscillator strength tendency</c:v>
                </c:pt>
              </c:strCache>
            </c:strRef>
          </c:tx>
          <c:spPr>
            <a:solidFill>
              <a:srgbClr val="2775FF"/>
            </a:solidFill>
            <a:ln w="38100" cap="flat">
              <a:solidFill>
                <a:srgbClr val="2775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775FF"/>
              </a:solidFill>
              <a:ln w="9525" cap="flat">
                <a:solidFill>
                  <a:srgbClr val="2775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0.0</c:v>
                  </c:pt>
                  <c:pt idx="1">
                    <c:v>0.1</c:v>
                  </c:pt>
                  <c:pt idx="2">
                    <c:v>0.2</c:v>
                  </c:pt>
                  <c:pt idx="3">
                    <c:v>0.3</c:v>
                  </c:pt>
                  <c:pt idx="4">
                    <c:v>0.4</c:v>
                  </c:pt>
                  <c:pt idx="5">
                    <c:v>0.5</c:v>
                  </c:pt>
                  <c:pt idx="6">
                    <c:v>0.6</c:v>
                  </c:pt>
                  <c:pt idx="7">
                    <c:v>0.7</c:v>
                  </c:pt>
                  <c:pt idx="8">
                    <c:v>0.8</c:v>
                  </c:pt>
                  <c:pt idx="9">
                    <c:v>0.9</c:v>
                  </c:pt>
                  <c:pt idx="10">
                    <c:v>1.0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0.039810717055349734</c:v>
                </c:pt>
                <c:pt idx="2">
                  <c:v>0.10506111217615072</c:v>
                </c:pt>
                <c:pt idx="3">
                  <c:v>0.1853402551702236</c:v>
                </c:pt>
                <c:pt idx="4">
                  <c:v>0.2772579372620586</c:v>
                </c:pt>
                <c:pt idx="5">
                  <c:v>0.37892914162759955</c:v>
                </c:pt>
                <c:pt idx="6">
                  <c:v>0.48911586576355365</c:v>
                </c:pt>
                <c:pt idx="7">
                  <c:v>0.6069281150667863</c:v>
                </c:pt>
                <c:pt idx="8">
                  <c:v>0.7316880830837222</c:v>
                </c:pt>
                <c:pt idx="9">
                  <c:v>0.8628583639627645</c:v>
                </c:pt>
                <c:pt idx="10">
                  <c:v>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useful compromise</c:v>
                </c:pt>
              </c:strCache>
            </c:strRef>
          </c:tx>
          <c:spPr>
            <a:solidFill>
              <a:srgbClr val="54E5A7"/>
            </a:solidFill>
            <a:ln w="38100" cap="flat">
              <a:solidFill>
                <a:srgbClr val="54E5A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4E5A7"/>
              </a:solidFill>
              <a:ln w="9525" cap="flat">
                <a:solidFill>
                  <a:srgbClr val="54E5A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0.0</c:v>
                  </c:pt>
                  <c:pt idx="1">
                    <c:v>0.1</c:v>
                  </c:pt>
                  <c:pt idx="2">
                    <c:v>0.2</c:v>
                  </c:pt>
                  <c:pt idx="3">
                    <c:v>0.3</c:v>
                  </c:pt>
                  <c:pt idx="4">
                    <c:v>0.4</c:v>
                  </c:pt>
                  <c:pt idx="5">
                    <c:v>0.5</c:v>
                  </c:pt>
                  <c:pt idx="6">
                    <c:v>0.6</c:v>
                  </c:pt>
                  <c:pt idx="7">
                    <c:v>0.7</c:v>
                  </c:pt>
                  <c:pt idx="8">
                    <c:v>0.8</c:v>
                  </c:pt>
                  <c:pt idx="9">
                    <c:v>0.9</c:v>
                  </c:pt>
                  <c:pt idx="10">
                    <c:v>1.0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0.0643284882857081</c:v>
                </c:pt>
                <c:pt idx="2">
                  <c:v>0.12636717507473513</c:v>
                </c:pt>
                <c:pt idx="3">
                  <c:v>0.17067289512648834</c:v>
                </c:pt>
                <c:pt idx="4">
                  <c:v>0.19105526784745364</c:v>
                </c:pt>
                <c:pt idx="5">
                  <c:v>0.18795498097877655</c:v>
                </c:pt>
                <c:pt idx="6">
                  <c:v>0.1667934438586911</c:v>
                </c:pt>
                <c:pt idx="7">
                  <c:v>0.13538737493110914</c:v>
                </c:pt>
                <c:pt idx="8">
                  <c:v>0.10135822346742139</c:v>
                </c:pt>
                <c:pt idx="9">
                  <c:v>0.07036365696508148</c:v>
                </c:pt>
                <c:pt idx="10">
                  <c:v>0.045460607788290516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"/>
        </c:scaling>
        <c:delete val="0"/>
        <c:axPos val="l"/>
        <c:majorGridlines>
          <c:spPr>
            <a:ln w="12700" cap="flat">
              <a:solidFill>
                <a:srgbClr val="1C355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prompt singlet fluorescence</c:v>
                </c:pt>
              </c:strCache>
            </c:strRef>
          </c:tx>
          <c:spPr>
            <a:solidFill>
              <a:srgbClr val="FFB84D"/>
            </a:solidFill>
            <a:ln w="38100" cap="flat">
              <a:solidFill>
                <a:srgbClr val="FFB8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B84D"/>
              </a:solidFill>
              <a:ln w="9525" cap="flat">
                <a:solidFill>
                  <a:srgbClr val="FFB8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Sheet1!$A$2:$A$52</c:f>
              <c:multiLvlStrCache>
                <c:ptCount val="51"/>
                <c:lvl>
                  <c:pt idx="0">
                    <c:v>0.0</c:v>
                  </c:pt>
                  <c:pt idx="1">
                    <c:v>0.2</c:v>
                  </c:pt>
                  <c:pt idx="2">
                    <c:v>0.4</c:v>
                  </c:pt>
                  <c:pt idx="3">
                    <c:v>0.6</c:v>
                  </c:pt>
                  <c:pt idx="4">
                    <c:v>0.8</c:v>
                  </c:pt>
                  <c:pt idx="5">
                    <c:v>1.0</c:v>
                  </c:pt>
                  <c:pt idx="6">
                    <c:v>1.2</c:v>
                  </c:pt>
                  <c:pt idx="7">
                    <c:v>1.4</c:v>
                  </c:pt>
                  <c:pt idx="8">
                    <c:v>1.6</c:v>
                  </c:pt>
                  <c:pt idx="9">
                    <c:v>1.8</c:v>
                  </c:pt>
                  <c:pt idx="10">
                    <c:v>2.0</c:v>
                  </c:pt>
                  <c:pt idx="11">
                    <c:v>2.2</c:v>
                  </c:pt>
                  <c:pt idx="12">
                    <c:v>2.4</c:v>
                  </c:pt>
                  <c:pt idx="13">
                    <c:v>2.6</c:v>
                  </c:pt>
                  <c:pt idx="14">
                    <c:v>2.8</c:v>
                  </c:pt>
                  <c:pt idx="15">
                    <c:v>3.0</c:v>
                  </c:pt>
                  <c:pt idx="16">
                    <c:v>3.2</c:v>
                  </c:pt>
                  <c:pt idx="17">
                    <c:v>3.4</c:v>
                  </c:pt>
                  <c:pt idx="18">
                    <c:v>3.6</c:v>
                  </c:pt>
                  <c:pt idx="19">
                    <c:v>3.8</c:v>
                  </c:pt>
                  <c:pt idx="20">
                    <c:v>4.0</c:v>
                  </c:pt>
                  <c:pt idx="21">
                    <c:v>4.2</c:v>
                  </c:pt>
                  <c:pt idx="22">
                    <c:v>4.4</c:v>
                  </c:pt>
                  <c:pt idx="23">
                    <c:v>4.6</c:v>
                  </c:pt>
                  <c:pt idx="24">
                    <c:v>4.8</c:v>
                  </c:pt>
                  <c:pt idx="25">
                    <c:v>5.0</c:v>
                  </c:pt>
                  <c:pt idx="26">
                    <c:v>5.2</c:v>
                  </c:pt>
                  <c:pt idx="27">
                    <c:v>5.4</c:v>
                  </c:pt>
                  <c:pt idx="28">
                    <c:v>5.6</c:v>
                  </c:pt>
                  <c:pt idx="29">
                    <c:v>5.8</c:v>
                  </c:pt>
                  <c:pt idx="30">
                    <c:v>6.0</c:v>
                  </c:pt>
                  <c:pt idx="31">
                    <c:v>6.2</c:v>
                  </c:pt>
                  <c:pt idx="32">
                    <c:v>6.4</c:v>
                  </c:pt>
                  <c:pt idx="33">
                    <c:v>6.6</c:v>
                  </c:pt>
                  <c:pt idx="34">
                    <c:v>6.8</c:v>
                  </c:pt>
                  <c:pt idx="35">
                    <c:v>7.0</c:v>
                  </c:pt>
                  <c:pt idx="36">
                    <c:v>7.2</c:v>
                  </c:pt>
                  <c:pt idx="37">
                    <c:v>7.4</c:v>
                  </c:pt>
                  <c:pt idx="38">
                    <c:v>7.6</c:v>
                  </c:pt>
                  <c:pt idx="39">
                    <c:v>7.8</c:v>
                  </c:pt>
                  <c:pt idx="40">
                    <c:v>8.0</c:v>
                  </c:pt>
                  <c:pt idx="41">
                    <c:v>8.2</c:v>
                  </c:pt>
                  <c:pt idx="42">
                    <c:v>8.4</c:v>
                  </c:pt>
                  <c:pt idx="43">
                    <c:v>8.6</c:v>
                  </c:pt>
                  <c:pt idx="44">
                    <c:v>8.8</c:v>
                  </c:pt>
                  <c:pt idx="45">
                    <c:v>9.0</c:v>
                  </c:pt>
                  <c:pt idx="46">
                    <c:v>9.2</c:v>
                  </c:pt>
                  <c:pt idx="47">
                    <c:v>9.4</c:v>
                  </c:pt>
                  <c:pt idx="48">
                    <c:v>9.6</c:v>
                  </c:pt>
                  <c:pt idx="49">
                    <c:v>9.8</c:v>
                  </c:pt>
                  <c:pt idx="50">
                    <c:v>10.0</c:v>
                  </c:pt>
                </c:lvl>
              </c:multiLvlStrCache>
            </c:multiLvlStrRef>
          </c:cat>
          <c:val>
            <c:numRef>
              <c:f>Sheet1!$B$2:$B$52</c:f>
              <c:numCache>
                <c:formatCode>General</c:formatCode>
                <c:ptCount val="51"/>
                <c:pt idx="0">
                  <c:v>1</c:v>
                </c:pt>
                <c:pt idx="1">
                  <c:v>0.6411803884299545</c:v>
                </c:pt>
                <c:pt idx="2">
                  <c:v>0.4111122905071874</c:v>
                </c:pt>
                <c:pt idx="3">
                  <c:v>0.2635971381157267</c:v>
                </c:pt>
                <c:pt idx="4">
                  <c:v>0.16901331540606607</c:v>
                </c:pt>
                <c:pt idx="5">
                  <c:v>0.10836802322189587</c:v>
                </c:pt>
                <c:pt idx="6">
                  <c:v>0.06948345122280151</c:v>
                </c:pt>
                <c:pt idx="7">
                  <c:v>0.044551426244489684</c:v>
                </c:pt>
                <c:pt idx="8">
                  <c:v>0.028565500784550366</c:v>
                </c:pt>
                <c:pt idx="9">
                  <c:v>0.01831563888873418</c:v>
                </c:pt>
                <c:pt idx="10">
                  <c:v>0.01174362845702136</c:v>
                </c:pt>
                <c:pt idx="11">
                  <c:v>0.007529784255650023</c:v>
                </c:pt>
                <c:pt idx="12">
                  <c:v>0.004827949993831437</c:v>
                </c:pt>
                <c:pt idx="13">
                  <c:v>0.00309558685236524</c:v>
                </c:pt>
                <c:pt idx="14">
                  <c:v>0.0019848295804182044</c:v>
                </c:pt>
                <c:pt idx="15">
                  <c:v>0.0012726338013398092</c:v>
                </c:pt>
                <c:pt idx="16">
                  <c:v>0.0008159878350721475</c:v>
                </c:pt>
                <c:pt idx="17">
                  <c:v>0.0005231953970456772</c:v>
                </c:pt>
                <c:pt idx="18">
                  <c:v>0.00033546262790251185</c:v>
                </c:pt>
                <c:pt idx="19">
                  <c:v>0.00021509205806226583</c:v>
                </c:pt>
                <c:pt idx="20">
                  <c:v>0.00013791280933656192</c:v>
                </c:pt>
                <c:pt idx="21">
                  <c:v>0.00008842698865988302</c:v>
                </c:pt>
                <c:pt idx="22">
                  <c:v>0.00005669765093663497</c:v>
                </c:pt>
                <c:pt idx="23">
                  <c:v>0.000036353421850617585</c:v>
                </c:pt>
                <c:pt idx="24">
                  <c:v>0.000023309101142936975</c:v>
                </c:pt>
                <c:pt idx="25">
                  <c:v>0.000014945338524781451</c:v>
                </c:pt>
                <c:pt idx="26">
                  <c:v>0.000009582657960536534</c:v>
                </c:pt>
                <c:pt idx="27">
                  <c:v>0.00000614421235332821</c:v>
                </c:pt>
                <c:pt idx="28">
                  <c:v>0.000003939548463303106</c:v>
                </c:pt>
                <c:pt idx="29">
                  <c:v>0.0000025259612139393158</c:v>
                </c:pt>
                <c:pt idx="30">
                  <c:v>0.0000016195967923126127</c:v>
                </c:pt>
                <c:pt idx="31">
                  <c:v>0.0000010384537003949074</c:v>
                </c:pt>
                <c:pt idx="32">
                  <c:v>6.658361469857302e-7</c:v>
                </c:pt>
                <c:pt idx="33">
                  <c:v>4.269210793550148e-7</c:v>
                </c:pt>
                <c:pt idx="34">
                  <c:v>2.737334234897838e-7</c:v>
                </c:pt>
                <c:pt idx="35">
                  <c:v>1.7551250279944112e-7</c:v>
                </c:pt>
                <c:pt idx="36">
                  <c:v>1.1253517471925912e-7</c:v>
                </c:pt>
                <c:pt idx="37">
                  <c:v>7.215534703852723e-8</c:v>
                </c:pt>
                <c:pt idx="38">
                  <c:v>4.626459344146113e-8</c:v>
                </c:pt>
                <c:pt idx="39">
                  <c:v>2.966394999334992e-8</c:v>
                </c:pt>
                <c:pt idx="40">
                  <c:v>1.901994297910288e-8</c:v>
                </c:pt>
                <c:pt idx="41">
                  <c:v>1.2195214427256748e-8</c:v>
                </c:pt>
                <c:pt idx="42">
                  <c:v>7.81933232345508e-9</c:v>
                </c:pt>
                <c:pt idx="43">
                  <c:v>5.013602536415836e-9</c:v>
                </c:pt>
                <c:pt idx="44">
                  <c:v>3.2146236217325044e-9</c:v>
                </c:pt>
                <c:pt idx="45">
                  <c:v>2.061153622438558e-9</c:v>
                </c:pt>
                <c:pt idx="46">
                  <c:v>1.3215712802489598e-9</c:v>
                </c:pt>
                <c:pt idx="47">
                  <c:v>8.473655868079018e-10</c:v>
                </c:pt>
                <c:pt idx="48">
                  <c:v>5.433141960916658e-10</c:v>
                </c:pt>
                <c:pt idx="49">
                  <c:v>3.4836240728956334e-10</c:v>
                </c:pt>
                <c:pt idx="50">
                  <c:v>2.233631436203166e-10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delayed TADF tail</c:v>
                </c:pt>
              </c:strCache>
            </c:strRef>
          </c:tx>
          <c:spPr>
            <a:solidFill>
              <a:srgbClr val="9F7BFF"/>
            </a:solidFill>
            <a:ln w="38100" cap="flat">
              <a:solidFill>
                <a:srgbClr val="9F7B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F7BFF"/>
              </a:solidFill>
              <a:ln w="9525" cap="flat">
                <a:solidFill>
                  <a:srgbClr val="9F7B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Sheet1!$A$2:$A$52</c:f>
              <c:multiLvlStrCache>
                <c:ptCount val="51"/>
                <c:lvl>
                  <c:pt idx="0">
                    <c:v>0.0</c:v>
                  </c:pt>
                  <c:pt idx="1">
                    <c:v>0.2</c:v>
                  </c:pt>
                  <c:pt idx="2">
                    <c:v>0.4</c:v>
                  </c:pt>
                  <c:pt idx="3">
                    <c:v>0.6</c:v>
                  </c:pt>
                  <c:pt idx="4">
                    <c:v>0.8</c:v>
                  </c:pt>
                  <c:pt idx="5">
                    <c:v>1.0</c:v>
                  </c:pt>
                  <c:pt idx="6">
                    <c:v>1.2</c:v>
                  </c:pt>
                  <c:pt idx="7">
                    <c:v>1.4</c:v>
                  </c:pt>
                  <c:pt idx="8">
                    <c:v>1.6</c:v>
                  </c:pt>
                  <c:pt idx="9">
                    <c:v>1.8</c:v>
                  </c:pt>
                  <c:pt idx="10">
                    <c:v>2.0</c:v>
                  </c:pt>
                  <c:pt idx="11">
                    <c:v>2.2</c:v>
                  </c:pt>
                  <c:pt idx="12">
                    <c:v>2.4</c:v>
                  </c:pt>
                  <c:pt idx="13">
                    <c:v>2.6</c:v>
                  </c:pt>
                  <c:pt idx="14">
                    <c:v>2.8</c:v>
                  </c:pt>
                  <c:pt idx="15">
                    <c:v>3.0</c:v>
                  </c:pt>
                  <c:pt idx="16">
                    <c:v>3.2</c:v>
                  </c:pt>
                  <c:pt idx="17">
                    <c:v>3.4</c:v>
                  </c:pt>
                  <c:pt idx="18">
                    <c:v>3.6</c:v>
                  </c:pt>
                  <c:pt idx="19">
                    <c:v>3.8</c:v>
                  </c:pt>
                  <c:pt idx="20">
                    <c:v>4.0</c:v>
                  </c:pt>
                  <c:pt idx="21">
                    <c:v>4.2</c:v>
                  </c:pt>
                  <c:pt idx="22">
                    <c:v>4.4</c:v>
                  </c:pt>
                  <c:pt idx="23">
                    <c:v>4.6</c:v>
                  </c:pt>
                  <c:pt idx="24">
                    <c:v>4.8</c:v>
                  </c:pt>
                  <c:pt idx="25">
                    <c:v>5.0</c:v>
                  </c:pt>
                  <c:pt idx="26">
                    <c:v>5.2</c:v>
                  </c:pt>
                  <c:pt idx="27">
                    <c:v>5.4</c:v>
                  </c:pt>
                  <c:pt idx="28">
                    <c:v>5.6</c:v>
                  </c:pt>
                  <c:pt idx="29">
                    <c:v>5.8</c:v>
                  </c:pt>
                  <c:pt idx="30">
                    <c:v>6.0</c:v>
                  </c:pt>
                  <c:pt idx="31">
                    <c:v>6.2</c:v>
                  </c:pt>
                  <c:pt idx="32">
                    <c:v>6.4</c:v>
                  </c:pt>
                  <c:pt idx="33">
                    <c:v>6.6</c:v>
                  </c:pt>
                  <c:pt idx="34">
                    <c:v>6.8</c:v>
                  </c:pt>
                  <c:pt idx="35">
                    <c:v>7.0</c:v>
                  </c:pt>
                  <c:pt idx="36">
                    <c:v>7.2</c:v>
                  </c:pt>
                  <c:pt idx="37">
                    <c:v>7.4</c:v>
                  </c:pt>
                  <c:pt idx="38">
                    <c:v>7.6</c:v>
                  </c:pt>
                  <c:pt idx="39">
                    <c:v>7.8</c:v>
                  </c:pt>
                  <c:pt idx="40">
                    <c:v>8.0</c:v>
                  </c:pt>
                  <c:pt idx="41">
                    <c:v>8.2</c:v>
                  </c:pt>
                  <c:pt idx="42">
                    <c:v>8.4</c:v>
                  </c:pt>
                  <c:pt idx="43">
                    <c:v>8.6</c:v>
                  </c:pt>
                  <c:pt idx="44">
                    <c:v>8.8</c:v>
                  </c:pt>
                  <c:pt idx="45">
                    <c:v>9.0</c:v>
                  </c:pt>
                  <c:pt idx="46">
                    <c:v>9.2</c:v>
                  </c:pt>
                  <c:pt idx="47">
                    <c:v>9.4</c:v>
                  </c:pt>
                  <c:pt idx="48">
                    <c:v>9.6</c:v>
                  </c:pt>
                  <c:pt idx="49">
                    <c:v>9.8</c:v>
                  </c:pt>
                  <c:pt idx="50">
                    <c:v>10.0</c:v>
                  </c:pt>
                </c:lvl>
              </c:multiLvlStrCache>
            </c:multiLvlStrRef>
          </c:cat>
          <c:val>
            <c:numRef>
              <c:f>Sheet1!$C$2:$C$52</c:f>
              <c:numCache>
                <c:formatCode>General</c:formatCode>
                <c:ptCount val="51"/>
                <c:pt idx="0">
                  <c:v>0.22</c:v>
                </c:pt>
                <c:pt idx="1">
                  <c:v>0.20927047339015709</c:v>
                </c:pt>
                <c:pt idx="2">
                  <c:v>0.1990642319679111</c:v>
                </c:pt>
                <c:pt idx="3">
                  <c:v>0.18935575481351272</c:v>
                </c:pt>
                <c:pt idx="4">
                  <c:v>0.18012076567715601</c:v>
                </c:pt>
                <c:pt idx="5">
                  <c:v>0.17133617227570908</c:v>
                </c:pt>
                <c:pt idx="6">
                  <c:v>0.1629800085499779</c:v>
                </c:pt>
                <c:pt idx="7">
                  <c:v>0.15503137973811695</c:v>
                </c:pt>
                <c:pt idx="8">
                  <c:v>0.14747041012784065</c:v>
                </c:pt>
                <c:pt idx="9">
                  <c:v>0.14027819335679012</c:v>
                </c:pt>
                <c:pt idx="10">
                  <c:v>0.13343674513677936</c:v>
                </c:pt>
                <c:pt idx="11">
                  <c:v>0.12692895828370707</c:v>
                </c:pt>
                <c:pt idx="12">
                  <c:v>0.1207385599406858</c:v>
                </c:pt>
                <c:pt idx="13">
                  <c:v>0.11485007088742354</c:v>
                </c:pt>
                <c:pt idx="14">
                  <c:v>0.10924876683411008</c:v>
                </c:pt>
                <c:pt idx="15">
                  <c:v>0.10392064160302324</c:v>
                </c:pt>
                <c:pt idx="16">
                  <c:v>0.09885237210578875</c:v>
                </c:pt>
                <c:pt idx="17">
                  <c:v>0.09403128502871987</c:v>
                </c:pt>
                <c:pt idx="18">
                  <c:v>0.08944532514293181</c:v>
                </c:pt>
                <c:pt idx="19">
                  <c:v>0.08508302515999026</c:v>
                </c:pt>
                <c:pt idx="20">
                  <c:v>0.08093347705771732</c:v>
                </c:pt>
                <c:pt idx="21">
                  <c:v>0.07698630480445418</c:v>
                </c:pt>
                <c:pt idx="22">
                  <c:v>0.0732316384135775</c:v>
                </c:pt>
                <c:pt idx="23">
                  <c:v>0.06966008926339169</c:v>
                </c:pt>
                <c:pt idx="24">
                  <c:v>0.06626272662068444</c:v>
                </c:pt>
                <c:pt idx="25">
                  <c:v>0.06303105530924182</c:v>
                </c:pt>
                <c:pt idx="26">
                  <c:v>0.05995699446748277</c:v>
                </c:pt>
                <c:pt idx="27">
                  <c:v>0.05703285734209613</c:v>
                </c:pt>
                <c:pt idx="28">
                  <c:v>0.054251332067153414</c:v>
                </c:pt>
                <c:pt idx="29">
                  <c:v>0.05160546338063548</c:v>
                </c:pt>
                <c:pt idx="30">
                  <c:v>0.04908863523265456</c:v>
                </c:pt>
                <c:pt idx="31">
                  <c:v>0.04669455424188347</c:v>
                </c:pt>
                <c:pt idx="32">
                  <c:v>0.04441723395882419</c:v>
                </c:pt>
                <c:pt idx="33">
                  <c:v>0.042250979896565906</c:v>
                </c:pt>
                <c:pt idx="34">
                  <c:v>0.04019037529160162</c:v>
                </c:pt>
                <c:pt idx="35">
                  <c:v>0.038230267559097926</c:v>
                </c:pt>
                <c:pt idx="36">
                  <c:v>0.036365755408749034</c:v>
                </c:pt>
                <c:pt idx="37">
                  <c:v>0.034592176588998075</c:v>
                </c:pt>
                <c:pt idx="38">
                  <c:v>0.032905096228979705</c:v>
                </c:pt>
                <c:pt idx="39">
                  <c:v>0.03130029574903299</c:v>
                </c:pt>
                <c:pt idx="40">
                  <c:v>0.029773762312054794</c:v>
                </c:pt>
                <c:pt idx="41">
                  <c:v>0.02832167878931692</c:v>
                </c:pt>
                <c:pt idx="42">
                  <c:v>0.02694041421565602</c:v>
                </c:pt>
                <c:pt idx="43">
                  <c:v>0.025626514710169333</c:v>
                </c:pt>
                <c:pt idx="44">
                  <c:v>0.024376694839713452</c:v>
                </c:pt>
                <c:pt idx="45">
                  <c:v>0.023187829403610152</c:v>
                </c:pt>
                <c:pt idx="46">
                  <c:v>0.022056945619016815</c:v>
                </c:pt>
                <c:pt idx="47">
                  <c:v>0.020981215687420916</c:v>
                </c:pt>
                <c:pt idx="48">
                  <c:v>0.019957949723670744</c:v>
                </c:pt>
                <c:pt idx="49">
                  <c:v>0.01898458902986151</c:v>
                </c:pt>
                <c:pt idx="50">
                  <c:v>0.018058699697257735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measured total</c:v>
                </c:pt>
              </c:strCache>
            </c:strRef>
          </c:tx>
          <c:spPr>
            <a:solidFill>
              <a:srgbClr val="35D5FF"/>
            </a:solidFill>
            <a:ln w="38100" cap="flat">
              <a:solidFill>
                <a:srgbClr val="35D5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5D5FF"/>
              </a:solidFill>
              <a:ln w="9525" cap="flat">
                <a:solidFill>
                  <a:srgbClr val="35D5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Sheet1!$A$2:$A$52</c:f>
              <c:multiLvlStrCache>
                <c:ptCount val="51"/>
                <c:lvl>
                  <c:pt idx="0">
                    <c:v>0.0</c:v>
                  </c:pt>
                  <c:pt idx="1">
                    <c:v>0.2</c:v>
                  </c:pt>
                  <c:pt idx="2">
                    <c:v>0.4</c:v>
                  </c:pt>
                  <c:pt idx="3">
                    <c:v>0.6</c:v>
                  </c:pt>
                  <c:pt idx="4">
                    <c:v>0.8</c:v>
                  </c:pt>
                  <c:pt idx="5">
                    <c:v>1.0</c:v>
                  </c:pt>
                  <c:pt idx="6">
                    <c:v>1.2</c:v>
                  </c:pt>
                  <c:pt idx="7">
                    <c:v>1.4</c:v>
                  </c:pt>
                  <c:pt idx="8">
                    <c:v>1.6</c:v>
                  </c:pt>
                  <c:pt idx="9">
                    <c:v>1.8</c:v>
                  </c:pt>
                  <c:pt idx="10">
                    <c:v>2.0</c:v>
                  </c:pt>
                  <c:pt idx="11">
                    <c:v>2.2</c:v>
                  </c:pt>
                  <c:pt idx="12">
                    <c:v>2.4</c:v>
                  </c:pt>
                  <c:pt idx="13">
                    <c:v>2.6</c:v>
                  </c:pt>
                  <c:pt idx="14">
                    <c:v>2.8</c:v>
                  </c:pt>
                  <c:pt idx="15">
                    <c:v>3.0</c:v>
                  </c:pt>
                  <c:pt idx="16">
                    <c:v>3.2</c:v>
                  </c:pt>
                  <c:pt idx="17">
                    <c:v>3.4</c:v>
                  </c:pt>
                  <c:pt idx="18">
                    <c:v>3.6</c:v>
                  </c:pt>
                  <c:pt idx="19">
                    <c:v>3.8</c:v>
                  </c:pt>
                  <c:pt idx="20">
                    <c:v>4.0</c:v>
                  </c:pt>
                  <c:pt idx="21">
                    <c:v>4.2</c:v>
                  </c:pt>
                  <c:pt idx="22">
                    <c:v>4.4</c:v>
                  </c:pt>
                  <c:pt idx="23">
                    <c:v>4.6</c:v>
                  </c:pt>
                  <c:pt idx="24">
                    <c:v>4.8</c:v>
                  </c:pt>
                  <c:pt idx="25">
                    <c:v>5.0</c:v>
                  </c:pt>
                  <c:pt idx="26">
                    <c:v>5.2</c:v>
                  </c:pt>
                  <c:pt idx="27">
                    <c:v>5.4</c:v>
                  </c:pt>
                  <c:pt idx="28">
                    <c:v>5.6</c:v>
                  </c:pt>
                  <c:pt idx="29">
                    <c:v>5.8</c:v>
                  </c:pt>
                  <c:pt idx="30">
                    <c:v>6.0</c:v>
                  </c:pt>
                  <c:pt idx="31">
                    <c:v>6.2</c:v>
                  </c:pt>
                  <c:pt idx="32">
                    <c:v>6.4</c:v>
                  </c:pt>
                  <c:pt idx="33">
                    <c:v>6.6</c:v>
                  </c:pt>
                  <c:pt idx="34">
                    <c:v>6.8</c:v>
                  </c:pt>
                  <c:pt idx="35">
                    <c:v>7.0</c:v>
                  </c:pt>
                  <c:pt idx="36">
                    <c:v>7.2</c:v>
                  </c:pt>
                  <c:pt idx="37">
                    <c:v>7.4</c:v>
                  </c:pt>
                  <c:pt idx="38">
                    <c:v>7.6</c:v>
                  </c:pt>
                  <c:pt idx="39">
                    <c:v>7.8</c:v>
                  </c:pt>
                  <c:pt idx="40">
                    <c:v>8.0</c:v>
                  </c:pt>
                  <c:pt idx="41">
                    <c:v>8.2</c:v>
                  </c:pt>
                  <c:pt idx="42">
                    <c:v>8.4</c:v>
                  </c:pt>
                  <c:pt idx="43">
                    <c:v>8.6</c:v>
                  </c:pt>
                  <c:pt idx="44">
                    <c:v>8.8</c:v>
                  </c:pt>
                  <c:pt idx="45">
                    <c:v>9.0</c:v>
                  </c:pt>
                  <c:pt idx="46">
                    <c:v>9.2</c:v>
                  </c:pt>
                  <c:pt idx="47">
                    <c:v>9.4</c:v>
                  </c:pt>
                  <c:pt idx="48">
                    <c:v>9.6</c:v>
                  </c:pt>
                  <c:pt idx="49">
                    <c:v>9.8</c:v>
                  </c:pt>
                  <c:pt idx="50">
                    <c:v>10.0</c:v>
                  </c:pt>
                </c:lvl>
              </c:multiLvlStrCache>
            </c:multiLvlStrRef>
          </c:cat>
          <c:val>
            <c:numRef>
              <c:f>Sheet1!$D$2:$D$52</c:f>
              <c:numCache>
                <c:formatCode>General</c:formatCode>
                <c:ptCount val="51"/>
                <c:pt idx="0">
                  <c:v>1.22</c:v>
                </c:pt>
                <c:pt idx="1">
                  <c:v>0.8504508618201116</c:v>
                </c:pt>
                <c:pt idx="2">
                  <c:v>0.6101765224750985</c:v>
                </c:pt>
                <c:pt idx="3">
                  <c:v>0.45295289292923946</c:v>
                </c:pt>
                <c:pt idx="4">
                  <c:v>0.3491340810832221</c:v>
                </c:pt>
                <c:pt idx="5">
                  <c:v>0.27970419549760495</c:v>
                </c:pt>
                <c:pt idx="6">
                  <c:v>0.23246345977277943</c:v>
                </c:pt>
                <c:pt idx="7">
                  <c:v>0.19958280598260664</c:v>
                </c:pt>
                <c:pt idx="8">
                  <c:v>0.176035910912391</c:v>
                </c:pt>
                <c:pt idx="9">
                  <c:v>0.1585938322455243</c:v>
                </c:pt>
                <c:pt idx="10">
                  <c:v>0.14518037359380073</c:v>
                </c:pt>
                <c:pt idx="11">
                  <c:v>0.13445874253935708</c:v>
                </c:pt>
                <c:pt idx="12">
                  <c:v>0.12556650993451723</c:v>
                </c:pt>
                <c:pt idx="13">
                  <c:v>0.11794565773978878</c:v>
                </c:pt>
                <c:pt idx="14">
                  <c:v>0.11123359641452829</c:v>
                </c:pt>
                <c:pt idx="15">
                  <c:v>0.10519327540436305</c:v>
                </c:pt>
                <c:pt idx="16">
                  <c:v>0.0996683599408609</c:v>
                </c:pt>
                <c:pt idx="17">
                  <c:v>0.09455448042576554</c:v>
                </c:pt>
                <c:pt idx="18">
                  <c:v>0.08978078777083433</c:v>
                </c:pt>
                <c:pt idx="19">
                  <c:v>0.08529811721805253</c:v>
                </c:pt>
                <c:pt idx="20">
                  <c:v>0.08107138986705388</c:v>
                </c:pt>
                <c:pt idx="21">
                  <c:v>0.07707473179311405</c:v>
                </c:pt>
                <c:pt idx="22">
                  <c:v>0.07328833606451413</c:v>
                </c:pt>
                <c:pt idx="23">
                  <c:v>0.0696964426852423</c:v>
                </c:pt>
                <c:pt idx="24">
                  <c:v>0.06628603572182738</c:v>
                </c:pt>
                <c:pt idx="25">
                  <c:v>0.0630460006477666</c:v>
                </c:pt>
                <c:pt idx="26">
                  <c:v>0.0599665771254433</c:v>
                </c:pt>
                <c:pt idx="27">
                  <c:v>0.05703900155444946</c:v>
                </c:pt>
                <c:pt idx="28">
                  <c:v>0.05425527161561672</c:v>
                </c:pt>
                <c:pt idx="29">
                  <c:v>0.05160798934184942</c:v>
                </c:pt>
                <c:pt idx="30">
                  <c:v>0.04909025482944687</c:v>
                </c:pt>
                <c:pt idx="31">
                  <c:v>0.04669559269558386</c:v>
                </c:pt>
                <c:pt idx="32">
                  <c:v>0.044417899794971176</c:v>
                </c:pt>
                <c:pt idx="33">
                  <c:v>0.04225140681764526</c:v>
                </c:pt>
                <c:pt idx="34">
                  <c:v>0.04019064902502511</c:v>
                </c:pt>
                <c:pt idx="35">
                  <c:v>0.03823044307160073</c:v>
                </c:pt>
                <c:pt idx="36">
                  <c:v>0.036365867943923755</c:v>
                </c:pt>
                <c:pt idx="37">
                  <c:v>0.03459224874434511</c:v>
                </c:pt>
                <c:pt idx="38">
                  <c:v>0.032905142493573146</c:v>
                </c:pt>
                <c:pt idx="39">
                  <c:v>0.03130032541298298</c:v>
                </c:pt>
                <c:pt idx="40">
                  <c:v>0.029773781331997772</c:v>
                </c:pt>
                <c:pt idx="41">
                  <c:v>0.02832169098453135</c:v>
                </c:pt>
                <c:pt idx="42">
                  <c:v>0.026940422034988344</c:v>
                </c:pt>
                <c:pt idx="43">
                  <c:v>0.02562651972377187</c:v>
                </c:pt>
                <c:pt idx="44">
                  <c:v>0.024376698054337075</c:v>
                </c:pt>
                <c:pt idx="45">
                  <c:v>0.023187831464763775</c:v>
                </c:pt>
                <c:pt idx="46">
                  <c:v>0.022056946940588094</c:v>
                </c:pt>
                <c:pt idx="47">
                  <c:v>0.020981216534786504</c:v>
                </c:pt>
                <c:pt idx="48">
                  <c:v>0.01995795026698494</c:v>
                </c:pt>
                <c:pt idx="49">
                  <c:v>0.018984589378223917</c:v>
                </c:pt>
                <c:pt idx="50">
                  <c:v>0.01805869992062088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5"/>
          <c:min val="0"/>
        </c:scaling>
        <c:delete val="0"/>
        <c:axPos val="l"/>
        <c:majorGridlines>
          <c:spPr>
            <a:ln w="12700" cap="flat">
              <a:solidFill>
                <a:srgbClr val="1C355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photons out / %</c:v>
                </c:pt>
              </c:strCache>
            </c:strRef>
          </c:tx>
          <c:spPr>
            <a:solidFill>
              <a:srgbClr val="35D5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singlets only</c:v>
                  </c:pt>
                  <c:pt idx="1">
                    <c:v>TADF ideal</c:v>
                  </c:pt>
                  <c:pt idx="2">
                    <c:v>with outcoupling</c:v>
                  </c:pt>
                  <c:pt idx="3">
                    <c:v>real high current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</c:v>
                </c:pt>
                <c:pt idx="1">
                  <c:v>100</c:v>
                </c:pt>
                <c:pt idx="2">
                  <c:v>25</c:v>
                </c:pt>
                <c:pt idx="3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1C355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framing TADF as a quantum engineering trick. The whole topic is about moving from electrical energy to light, and avoiding the loss of triplet excitons.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talk is not many disconnected facts. It is one factory-line story: get charges in, bind them, deal with spin, then get photons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sandwich analogy. Different layers are not decoration; they are engineered to inject and transport electrons and holes to the emissive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HOMO and LUMO carefully. Then say the exciton is not a real atom, but the analogy is useful: a negative electron bound to a positive hole.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link to quantum mechanics: this is the same addition of two spin-one-half objects. One singlet state and three triplet projections give the famous 25/75 split.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forbidden means much less likely, not absolutely impossible. The key problem is that three-quarters of electrically generated excitons are triplets.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photon does not directly come from T1. The triplet is converted back to the singlet first. That is the recycling route.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qualitative simulation. The exact RISC rate is more complex, but the Boltzmann factor explains why small energy gaps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balance. We want HOMO and LUMO separated enough to lower exchange, but not so separated that emission becomes weak.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conceptual simulation, not a fitted dataset. It communicates the design tension: exchange splitting and light emission depend on orbital overlap in competing ways.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a delayed tail in transient photoluminescence is a signature of triplet recycling, but it must be interpreted carefully with other mechanisms ruled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100% internal quantum efficiency is the ideal exciton-use limit. It does not mean every electron produces a visible photon escaping the display.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clear that material design is not only a molecule problem. The host and transport layers can either support or ruin the emitter.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and the next few act as a built animation. Advance slide-by-slide to show the mechanism.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say: forming an exciton is not the end. It can be singlet or triplet depending on spin coupling.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four-door analogy. This slide explains why OLED spin statistics are such a big issue.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the animation by stressing the most common misconception: delayed fluorescence still comes from S1 to S0. The delay comes from time spent in T1.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tying the physics to device design. TADF is not magic: it is the deliberate manipulation of molecular wavefunctions and excited-state kinetics.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w="12700">
            <a:solidFill>
              <a:srgbClr val="06111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780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780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w="12700">
            <a:solidFill>
              <a:srgbClr val="06111F">
                <a:alpha val="0"/>
              </a:srgbClr>
            </a:solidFill>
            <a:prstDash val="solid"/>
          </a:ln>
        </p:spPr>
      </p:sp>
      <p:pic>
        <p:nvPicPr>
          <p:cNvPr id="3" name="Image 0" descr="/mnt/data/wide_cinematic_high_quality_3d_rendered_technica_batch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960120"/>
            <a:ext cx="6172200" cy="3474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92" y="141732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EA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TADF semiconductors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EA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OLEDs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658368" y="28346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5D5FF"/>
                </a:solidFill>
              </a:rPr>
              <a:t>How spin physics turns “wasted” triplets into useful light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85800" y="4434840"/>
            <a:ext cx="4709160" cy="914400"/>
          </a:xfrm>
          <a:prstGeom prst="roundRect">
            <a:avLst/>
          </a:prstGeom>
          <a:solidFill>
            <a:srgbClr val="071A2F">
              <a:alpha val="95000"/>
            </a:srgbClr>
          </a:solidFill>
          <a:ln>
            <a:solidFill>
              <a:srgbClr val="35D5FF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EAF6FF"/>
                </a:solidFill>
              </a:rPr>
              <a:t>Core story: voltage → excitons → spin statistics → triplet bottleneck → thermal recycling → photons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85800" y="5532120"/>
            <a:ext cx="2240280" cy="292608"/>
          </a:xfrm>
          <a:prstGeom prst="roundRect">
            <a:avLst>
              <a:gd name="adj" fmla="val 15625"/>
            </a:avLst>
          </a:prstGeom>
          <a:solidFill>
            <a:srgbClr val="0B203A">
              <a:alpha val="90000"/>
            </a:srgbClr>
          </a:solidFill>
          <a:ln>
            <a:solidFill>
              <a:srgbClr val="FFB84D">
                <a:alpha val="7500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B84D"/>
                </a:solidFill>
              </a:rPr>
              <a:t>presentation + visual simulations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780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w="12700">
            <a:solidFill>
              <a:srgbClr val="06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A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whole mechanism in one map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B0C9"/>
                </a:solidFill>
              </a:rPr>
              <a:t>Use this as the mental route through the talk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1965960"/>
            <a:ext cx="530352" cy="530352"/>
          </a:xfrm>
          <a:prstGeom prst="ellipse">
            <a:avLst/>
          </a:prstGeom>
          <a:solidFill>
            <a:srgbClr val="2775FF"/>
          </a:solidFill>
          <a:ln>
            <a:solidFill>
              <a:srgbClr val="FFFFFF">
                <a:alpha val="4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Inject charges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3063240"/>
            <a:ext cx="157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AB0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electrons + holes enter organic layers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0" y="3364992"/>
            <a:ext cx="256032" cy="0"/>
          </a:xfrm>
          <a:prstGeom prst="line">
            <a:avLst/>
          </a:prstGeom>
          <a:noFill/>
          <a:ln w="12700">
            <a:solidFill>
              <a:srgbClr val="9AB0C9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496312" y="1965960"/>
            <a:ext cx="530352" cy="530352"/>
          </a:xfrm>
          <a:prstGeom prst="ellipse">
            <a:avLst/>
          </a:prstGeom>
          <a:solidFill>
            <a:srgbClr val="35D5FF"/>
          </a:solidFill>
          <a:ln>
            <a:solidFill>
              <a:srgbClr val="FFFFFF">
                <a:alpha val="4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359152" y="2697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excitons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21992" y="3063240"/>
            <a:ext cx="157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AB0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 electron–hole excited states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87952" y="3364992"/>
            <a:ext cx="256032" cy="0"/>
          </a:xfrm>
          <a:prstGeom prst="line">
            <a:avLst/>
          </a:prstGeom>
          <a:noFill/>
          <a:ln w="12700">
            <a:solidFill>
              <a:srgbClr val="9AB0C9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398264" y="1965960"/>
            <a:ext cx="530352" cy="530352"/>
          </a:xfrm>
          <a:prstGeom prst="ellipse">
            <a:avLst/>
          </a:prstGeom>
          <a:solidFill>
            <a:srgbClr val="9F7BFF"/>
          </a:solidFill>
          <a:ln>
            <a:solidFill>
              <a:srgbClr val="FFFFFF">
                <a:alpha val="4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261104" y="2697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Spin lottery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23944" y="3063240"/>
            <a:ext cx="157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AB0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 singlet, 75% triplet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9904" y="3364992"/>
            <a:ext cx="256032" cy="0"/>
          </a:xfrm>
          <a:prstGeom prst="line">
            <a:avLst/>
          </a:prstGeom>
          <a:noFill/>
          <a:ln w="12700">
            <a:solidFill>
              <a:srgbClr val="9AB0C9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300216" y="1965960"/>
            <a:ext cx="530352" cy="530352"/>
          </a:xfrm>
          <a:prstGeom prst="ellipse">
            <a:avLst/>
          </a:prstGeom>
          <a:solidFill>
            <a:srgbClr val="FF4D6D"/>
          </a:solidFill>
          <a:ln>
            <a:solidFill>
              <a:srgbClr val="FFFFFF">
                <a:alpha val="4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63056" y="2697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Bottleneck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25896" y="3063240"/>
            <a:ext cx="157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AB0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triplets are spin-forbidden to emit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991856" y="3364992"/>
            <a:ext cx="256032" cy="0"/>
          </a:xfrm>
          <a:prstGeom prst="line">
            <a:avLst/>
          </a:prstGeom>
          <a:noFill/>
          <a:ln w="12700">
            <a:solidFill>
              <a:srgbClr val="9AB0C9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8202168" y="1965960"/>
            <a:ext cx="530352" cy="530352"/>
          </a:xfrm>
          <a:prstGeom prst="ellipse">
            <a:avLst/>
          </a:prstGeom>
          <a:solidFill>
            <a:srgbClr val="54E5A7"/>
          </a:solidFill>
          <a:ln>
            <a:solidFill>
              <a:srgbClr val="FFFFFF">
                <a:alpha val="4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065008" y="2697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TADF recycle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27848" y="3063240"/>
            <a:ext cx="157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AB0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RISC converts T₁ back to S₁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893808" y="3364992"/>
            <a:ext cx="256032" cy="0"/>
          </a:xfrm>
          <a:prstGeom prst="line">
            <a:avLst/>
          </a:prstGeom>
          <a:noFill/>
          <a:ln w="12700">
            <a:solidFill>
              <a:srgbClr val="9AB0C9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10104120" y="1965960"/>
            <a:ext cx="530352" cy="530352"/>
          </a:xfrm>
          <a:prstGeom prst="ellipse">
            <a:avLst/>
          </a:prstGeom>
          <a:solidFill>
            <a:srgbClr val="FFB84D"/>
          </a:solidFill>
          <a:ln>
            <a:solidFill>
              <a:srgbClr val="FFFFFF">
                <a:alpha val="4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966960" y="2697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Photon out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829800" y="3063240"/>
            <a:ext cx="1572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AB0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S₁ → S₀ gives fluorescence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51560" y="4892040"/>
            <a:ext cx="10058400" cy="804672"/>
          </a:xfrm>
          <a:prstGeom prst="roundRect">
            <a:avLst/>
          </a:prstGeom>
          <a:solidFill>
            <a:srgbClr val="071A2F">
              <a:alpha val="95000"/>
            </a:srgbClr>
          </a:solidFill>
          <a:ln>
            <a:solidFill>
              <a:srgbClr val="FFB84D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AF6FF"/>
                </a:solidFill>
              </a:rPr>
              <a:t>Analogy: a factory line. Charges arrive, make excitons, most excitons enter the wrong room, and TADF builds a return route back to the light-emitting room.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780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w="12700">
            <a:solidFill>
              <a:srgbClr val="06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A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OLED = molecular layers that move charge and emit light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B0C9"/>
                </a:solidFill>
              </a:rPr>
              <a:t>The emissive layer is where electron–hole pairs form excitons</a:t>
            </a:r>
            <a:endParaRPr lang="en-US" sz="850" dirty="0"/>
          </a:p>
        </p:txBody>
      </p:sp>
      <p:pic>
        <p:nvPicPr>
          <p:cNvPr id="5" name="Image 0" descr="/mnt/data/wide_cinematic_high_quality_3d_rendered_technica_batch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170432"/>
            <a:ext cx="5303520" cy="2980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325880"/>
            <a:ext cx="5074920" cy="420624"/>
          </a:xfrm>
          <a:prstGeom prst="roundRect">
            <a:avLst/>
          </a:prstGeom>
          <a:solidFill>
            <a:srgbClr val="19304B">
              <a:alpha val="90000"/>
            </a:srgbClr>
          </a:solidFill>
          <a:ln>
            <a:solidFill>
              <a:srgbClr val="35D5FF">
                <a:alpha val="50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6FF"/>
                </a:solidFill>
              </a:rPr>
              <a:t>Cathode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AF6FF"/>
                </a:solidFill>
              </a:rPr>
              <a:t>electron injection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" y="1856232"/>
            <a:ext cx="5074920" cy="420624"/>
          </a:xfrm>
          <a:prstGeom prst="roundRect">
            <a:avLst/>
          </a:prstGeom>
          <a:solidFill>
            <a:srgbClr val="0C497A">
              <a:alpha val="90000"/>
            </a:srgbClr>
          </a:solidFill>
          <a:ln>
            <a:solidFill>
              <a:srgbClr val="35D5FF">
                <a:alpha val="50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6FF"/>
                </a:solidFill>
              </a:rPr>
              <a:t>Electron transport layer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AF6FF"/>
                </a:solidFill>
              </a:rPr>
              <a:t>moves e⁻ toward emitter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2386584"/>
            <a:ext cx="5074920" cy="420624"/>
          </a:xfrm>
          <a:prstGeom prst="roundRect">
            <a:avLst/>
          </a:prstGeom>
          <a:solidFill>
            <a:srgbClr val="8C4A00"/>
          </a:solidFill>
          <a:ln>
            <a:solidFill>
              <a:srgbClr val="FFB84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F6FF"/>
                </a:solidFill>
              </a:rPr>
              <a:t>Emissive layer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AF6FF"/>
                </a:solidFill>
              </a:rPr>
              <a:t>exciton formation + light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2916936"/>
            <a:ext cx="5074920" cy="420624"/>
          </a:xfrm>
          <a:prstGeom prst="roundRect">
            <a:avLst/>
          </a:prstGeom>
          <a:solidFill>
            <a:srgbClr val="0B5B62">
              <a:alpha val="90000"/>
            </a:srgbClr>
          </a:solidFill>
          <a:ln>
            <a:solidFill>
              <a:srgbClr val="35D5FF">
                <a:alpha val="50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6FF"/>
                </a:solidFill>
              </a:rPr>
              <a:t>Hole transport layer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AF6FF"/>
                </a:solidFill>
              </a:rPr>
              <a:t>moves h⁺ toward emitter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3447288"/>
            <a:ext cx="5074920" cy="420624"/>
          </a:xfrm>
          <a:prstGeom prst="roundRect">
            <a:avLst/>
          </a:prstGeom>
          <a:solidFill>
            <a:srgbClr val="103C72">
              <a:alpha val="90000"/>
            </a:srgbClr>
          </a:solidFill>
          <a:ln>
            <a:solidFill>
              <a:srgbClr val="35D5FF">
                <a:alpha val="50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6FF"/>
                </a:solidFill>
              </a:rPr>
              <a:t>Anode / transparent contact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AF6FF"/>
                </a:solidFill>
              </a:rPr>
              <a:t>hole injection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3977640"/>
            <a:ext cx="5074920" cy="420624"/>
          </a:xfrm>
          <a:prstGeom prst="roundRect">
            <a:avLst/>
          </a:prstGeom>
          <a:solidFill>
            <a:srgbClr val="092238">
              <a:alpha val="90000"/>
            </a:srgbClr>
          </a:solidFill>
          <a:ln>
            <a:solidFill>
              <a:srgbClr val="35D5FF">
                <a:alpha val="5000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6FF"/>
                </a:solidFill>
              </a:rPr>
              <a:t>Glass / substrate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AF6FF"/>
                </a:solidFill>
              </a:rPr>
              <a:t>lets light escape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577840" y="1389888"/>
            <a:ext cx="502920" cy="0"/>
          </a:xfrm>
          <a:prstGeom prst="line">
            <a:avLst/>
          </a:prstGeom>
          <a:noFill/>
          <a:ln w="12700">
            <a:solidFill>
              <a:srgbClr val="2775FF"/>
            </a:solidFill>
            <a:prstDash val="solid"/>
            <a:headEnd type="none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5623560" y="10972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77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e⁻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577840" y="3520440"/>
            <a:ext cx="502920" cy="0"/>
          </a:xfrm>
          <a:prstGeom prst="line">
            <a:avLst/>
          </a:prstGeom>
          <a:noFill/>
          <a:ln w="12700">
            <a:solidFill>
              <a:srgbClr val="FF7A30"/>
            </a:solidFill>
            <a:prstDash val="solid"/>
            <a:headEnd type="none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6016752" y="3611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7A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h⁺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41248" y="5257800"/>
            <a:ext cx="4800600" cy="777240"/>
          </a:xfrm>
          <a:prstGeom prst="roundRect">
            <a:avLst/>
          </a:prstGeom>
          <a:solidFill>
            <a:srgbClr val="071A2F">
              <a:alpha val="95000"/>
            </a:srgbClr>
          </a:solidFill>
          <a:ln>
            <a:solidFill>
              <a:srgbClr val="35D5FF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AF6FF"/>
                </a:solidFill>
              </a:rPr>
              <a:t>Organic semiconductor ≠ silicon band picture only. It is often clearer to think in terms of molecular HOMO and LUMO levels.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780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w="12700">
            <a:solidFill>
              <a:srgbClr val="06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A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Charges meet: electron + hole → exciton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B0C9"/>
                </a:solidFill>
              </a:rPr>
              <a:t>An exciton is a bound excited state, like a loose molecular “atom”</a:t>
            </a:r>
            <a:endParaRPr lang="en-US" sz="850" dirty="0"/>
          </a:p>
        </p:txBody>
      </p:sp>
      <p:pic>
        <p:nvPicPr>
          <p:cNvPr id="5" name="Image 0" descr="/mnt/data/a_detailed_sci_fi_scientific_illustration_style_sc_batch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353312"/>
            <a:ext cx="5806440" cy="32644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097280"/>
            <a:ext cx="2194560" cy="347472"/>
          </a:xfrm>
          <a:prstGeom prst="roundRect">
            <a:avLst/>
          </a:prstGeom>
          <a:solidFill>
            <a:srgbClr val="0D2346"/>
          </a:solidFill>
          <a:ln>
            <a:solidFill>
              <a:srgbClr val="2775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6FF"/>
                </a:solidFill>
              </a:rPr>
              <a:t>LUMO: electron-like state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1920240"/>
            <a:ext cx="2148840" cy="347472"/>
          </a:xfrm>
          <a:prstGeom prst="roundRect">
            <a:avLst/>
          </a:prstGeom>
          <a:solidFill>
            <a:srgbClr val="3B1A09"/>
          </a:solidFill>
          <a:ln>
            <a:solidFill>
              <a:srgbClr val="FF7A3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6FF"/>
                </a:solidFill>
              </a:rPr>
              <a:t>HOMO: hole-like state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91840" y="1298448"/>
            <a:ext cx="1828800" cy="0"/>
          </a:xfrm>
          <a:prstGeom prst="line">
            <a:avLst/>
          </a:prstGeom>
          <a:noFill/>
          <a:ln w="12700">
            <a:solidFill>
              <a:srgbClr val="2775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91840" y="2148840"/>
            <a:ext cx="1828800" cy="0"/>
          </a:xfrm>
          <a:prstGeom prst="line">
            <a:avLst/>
          </a:prstGeom>
          <a:noFill/>
          <a:ln w="12700">
            <a:solidFill>
              <a:srgbClr val="FF7A3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51960" y="1993392"/>
            <a:ext cx="0" cy="-548640"/>
          </a:xfrm>
          <a:prstGeom prst="line">
            <a:avLst/>
          </a:prstGeom>
          <a:noFill/>
          <a:ln w="12700">
            <a:solidFill>
              <a:srgbClr val="35D5FF"/>
            </a:solidFill>
            <a:prstDash val="solid"/>
            <a:headEnd type="none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3090672" y="283464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 gap → colour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emitted photon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68680" y="42976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EAF6FF"/>
                </a:solidFill>
              </a:rPr>
              <a:t>hν = E(S₁) − E(S₀) = hc / λ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22960" y="5257800"/>
            <a:ext cx="4572000" cy="640080"/>
          </a:xfrm>
          <a:prstGeom prst="roundRect">
            <a:avLst/>
          </a:prstGeom>
          <a:solidFill>
            <a:srgbClr val="071A2F">
              <a:alpha val="95000"/>
            </a:srgbClr>
          </a:solidFill>
          <a:ln>
            <a:solidFill>
              <a:srgbClr val="FFB84D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AF6FF"/>
                </a:solidFill>
              </a:rPr>
              <a:t>Analogy: the electron and hole are like two opposite dancers pulled together; their paired dance is the exciton.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780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w="12700">
            <a:solidFill>
              <a:srgbClr val="06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A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Spin turns one exciton into two families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B0C9"/>
                </a:solidFill>
              </a:rPr>
              <a:t>Coupling electron spin and hole spin gives singlet and triplet states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60120" y="1234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77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electron spin ½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286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7A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hole spin ½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834640" y="10241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775FF"/>
                </a:solidFill>
              </a:rPr>
              <a:t>↑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834640" y="208483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7A30"/>
                </a:solidFill>
              </a:rPr>
              <a:t>↓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3703320" y="1901952"/>
            <a:ext cx="914400" cy="0"/>
          </a:xfrm>
          <a:prstGeom prst="line">
            <a:avLst/>
          </a:prstGeom>
          <a:noFill/>
          <a:ln w="12700">
            <a:solidFill>
              <a:srgbClr val="9AB0C9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074920" y="1143000"/>
            <a:ext cx="1234440" cy="566928"/>
          </a:xfrm>
          <a:prstGeom prst="roundRect">
            <a:avLst/>
          </a:prstGeom>
          <a:solidFill>
            <a:srgbClr val="54E5A7"/>
          </a:solidFill>
          <a:ln>
            <a:solidFill>
              <a:srgbClr val="FFFFFF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 = 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Singlet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 state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74920" y="2331720"/>
            <a:ext cx="1234440" cy="566928"/>
          </a:xfrm>
          <a:prstGeom prst="roundRect">
            <a:avLst/>
          </a:prstGeom>
          <a:solidFill>
            <a:srgbClr val="9F7BFF"/>
          </a:solidFill>
          <a:ln>
            <a:solidFill>
              <a:srgbClr val="FFFFFF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 =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Triplet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 states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543800" y="1508760"/>
            <a:ext cx="530352" cy="1097280"/>
          </a:xfrm>
          <a:prstGeom prst="roundRect">
            <a:avLst/>
          </a:prstGeom>
          <a:solidFill>
            <a:srgbClr val="54E5A7"/>
          </a:solidFill>
          <a:ln>
            <a:solidFill>
              <a:srgbClr val="FFFFFF">
                <a:alpha val="4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321040" y="1508760"/>
            <a:ext cx="530352" cy="1097280"/>
          </a:xfrm>
          <a:prstGeom prst="roundRect">
            <a:avLst/>
          </a:prstGeom>
          <a:solidFill>
            <a:srgbClr val="9F7BFF"/>
          </a:solidFill>
          <a:ln>
            <a:solidFill>
              <a:srgbClr val="FFFFFF">
                <a:alpha val="4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098280" y="1508760"/>
            <a:ext cx="530352" cy="1097280"/>
          </a:xfrm>
          <a:prstGeom prst="roundRect">
            <a:avLst/>
          </a:prstGeom>
          <a:solidFill>
            <a:srgbClr val="9F7BFF"/>
          </a:solidFill>
          <a:ln>
            <a:solidFill>
              <a:srgbClr val="FFFFFF">
                <a:alpha val="4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875520" y="1508760"/>
            <a:ext cx="530352" cy="1097280"/>
          </a:xfrm>
          <a:prstGeom prst="roundRect">
            <a:avLst/>
          </a:prstGeom>
          <a:solidFill>
            <a:srgbClr val="9F7BFF"/>
          </a:solidFill>
          <a:ln>
            <a:solidFill>
              <a:srgbClr val="FFFFFF">
                <a:alpha val="4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543800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spin lottery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498080" y="331012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B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≈25% singlet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FFB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≈75% triplet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14400" y="5074920"/>
            <a:ext cx="10058400" cy="713232"/>
          </a:xfrm>
          <a:prstGeom prst="roundRect">
            <a:avLst/>
          </a:prstGeom>
          <a:solidFill>
            <a:srgbClr val="071A2F">
              <a:alpha val="95000"/>
            </a:srgbClr>
          </a:solidFill>
          <a:ln>
            <a:solidFill>
              <a:srgbClr val="9F7BFF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EAF6FF"/>
                </a:solidFill>
              </a:rPr>
              <a:t>Four doors: one leads to the singlet room, three lead to the triplet room. Random exciton formation mostly creates triplets.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780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w="12700">
            <a:solidFill>
              <a:srgbClr val="06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A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Conventional fluorescence wastes most excitons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B0C9"/>
                </a:solidFill>
              </a:rPr>
              <a:t>S₁ can emit easily; T₁ is spin-forbidden to S₀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097280" y="5440680"/>
            <a:ext cx="0" cy="-3749040"/>
          </a:xfrm>
          <a:prstGeom prst="line">
            <a:avLst/>
          </a:prstGeom>
          <a:noFill/>
          <a:ln w="12700">
            <a:solidFill>
              <a:srgbClr val="9AB0C9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AB0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0" y="1417320"/>
            <a:ext cx="2834640" cy="0"/>
          </a:xfrm>
          <a:prstGeom prst="line">
            <a:avLst/>
          </a:prstGeom>
          <a:noFill/>
          <a:ln w="12700">
            <a:solidFill>
              <a:srgbClr val="54E5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131673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4E5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S₁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28800" y="2761488"/>
            <a:ext cx="2834640" cy="0"/>
          </a:xfrm>
          <a:prstGeom prst="line">
            <a:avLst/>
          </a:prstGeom>
          <a:noFill/>
          <a:ln w="12700">
            <a:solidFill>
              <a:srgbClr val="9F7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267004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F7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T₁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828800" y="4892040"/>
            <a:ext cx="2834640" cy="0"/>
          </a:xfrm>
          <a:prstGeom prst="line">
            <a:avLst/>
          </a:prstGeom>
          <a:noFill/>
          <a:ln w="12700">
            <a:solidFill>
              <a:srgbClr val="9AB0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8760" y="478231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AB0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S₀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80360" y="1508760"/>
            <a:ext cx="0" cy="3154680"/>
          </a:xfrm>
          <a:prstGeom prst="line">
            <a:avLst/>
          </a:prstGeom>
          <a:noFill/>
          <a:ln w="12700">
            <a:solidFill>
              <a:srgbClr val="FFB84D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246120" y="2907792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B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allowed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FB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fluorescence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60520" y="2816352"/>
            <a:ext cx="0" cy="1920240"/>
          </a:xfrm>
          <a:prstGeom prst="line">
            <a:avLst/>
          </a:prstGeom>
          <a:noFill/>
          <a:ln w="12700">
            <a:solidFill>
              <a:srgbClr val="FF4D6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04488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4D6D"/>
                </a:solidFill>
              </a:rPr>
              <a:t>×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4526280" y="352958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4D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spin-forbidden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4D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ΔS ≠ 0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37960" y="1280160"/>
            <a:ext cx="4297680" cy="1051560"/>
          </a:xfrm>
          <a:prstGeom prst="roundRect">
            <a:avLst/>
          </a:prstGeom>
          <a:solidFill>
            <a:srgbClr val="071A2F">
              <a:alpha val="95000"/>
            </a:srgbClr>
          </a:solidFill>
          <a:ln>
            <a:solidFill>
              <a:srgbClr val="FF4D6D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AF6FF"/>
                </a:solidFill>
              </a:rPr>
              <a:t>Selection rule analogy: the triplet has energy to pay for a photon, but it is holding the wrong spin “passport”.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537960" y="2971800"/>
            <a:ext cx="4297680" cy="1143000"/>
          </a:xfrm>
          <a:prstGeom prst="roundRect">
            <a:avLst/>
          </a:prstGeom>
          <a:solidFill>
            <a:srgbClr val="071A2F">
              <a:alpha val="95000"/>
            </a:srgbClr>
          </a:solidFill>
          <a:ln>
            <a:solidFill>
              <a:srgbClr val="FFB84D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AF6FF"/>
                </a:solidFill>
              </a:rPr>
              <a:t>Result: ordinary fluorescent OLEDs can efficiently use the 25% singlet population, but triplets become a loss channel.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780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w="12700">
            <a:solidFill>
              <a:srgbClr val="06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A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TADF builds a return route from triplet to singlet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B0C9"/>
                </a:solidFill>
              </a:rPr>
              <a:t>Thermally activated delayed fluorescence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005840" y="5440680"/>
            <a:ext cx="0" cy="-3749040"/>
          </a:xfrm>
          <a:prstGeom prst="line">
            <a:avLst/>
          </a:prstGeom>
          <a:noFill/>
          <a:ln w="12700">
            <a:solidFill>
              <a:srgbClr val="9AB0C9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365760" y="12801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AB0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0" y="1691640"/>
            <a:ext cx="3657600" cy="0"/>
          </a:xfrm>
          <a:prstGeom prst="line">
            <a:avLst/>
          </a:prstGeom>
          <a:noFill/>
          <a:ln w="12700">
            <a:solidFill>
              <a:srgbClr val="54E5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16002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4E5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S₁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28800" y="2331720"/>
            <a:ext cx="3657600" cy="0"/>
          </a:xfrm>
          <a:prstGeom prst="line">
            <a:avLst/>
          </a:prstGeom>
          <a:noFill/>
          <a:ln w="12700">
            <a:solidFill>
              <a:srgbClr val="9F7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224028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F7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T₁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828800" y="5029200"/>
            <a:ext cx="3657600" cy="0"/>
          </a:xfrm>
          <a:prstGeom prst="line">
            <a:avLst/>
          </a:prstGeom>
          <a:noFill/>
          <a:ln w="12700">
            <a:solidFill>
              <a:srgbClr val="9AB0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08760" y="49194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AB0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S₀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26280" y="2286000"/>
            <a:ext cx="0" cy="-502920"/>
          </a:xfrm>
          <a:prstGeom prst="line">
            <a:avLst/>
          </a:prstGeom>
          <a:noFill/>
          <a:ln w="12700">
            <a:solidFill>
              <a:srgbClr val="35D5FF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736592" y="188366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5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RISC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35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thermal climb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71800" y="1783080"/>
            <a:ext cx="0" cy="3008376"/>
          </a:xfrm>
          <a:prstGeom prst="line">
            <a:avLst/>
          </a:prstGeom>
          <a:noFill/>
          <a:ln w="12700">
            <a:solidFill>
              <a:srgbClr val="FFB84D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182112" y="3017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B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286000" y="1755648"/>
            <a:ext cx="0" cy="457200"/>
          </a:xfrm>
          <a:prstGeom prst="line">
            <a:avLst/>
          </a:prstGeom>
          <a:noFill/>
          <a:ln w="12700">
            <a:solidFill>
              <a:srgbClr val="9F7BFF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1920240" y="192024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F7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55080" y="1828800"/>
            <a:ext cx="1234440" cy="566928"/>
          </a:xfrm>
          <a:prstGeom prst="roundRect">
            <a:avLst/>
          </a:prstGeom>
          <a:solidFill>
            <a:srgbClr val="9F7BFF"/>
          </a:solidFill>
          <a:ln>
            <a:solidFill>
              <a:srgbClr val="FFFFFF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T₁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wait in triplet room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607808" y="2112264"/>
            <a:ext cx="118872" cy="0"/>
          </a:xfrm>
          <a:prstGeom prst="line">
            <a:avLst/>
          </a:prstGeom>
          <a:noFill/>
          <a:ln w="12700">
            <a:solidFill>
              <a:srgbClr val="9AB0C9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7772400" y="1828800"/>
            <a:ext cx="1234440" cy="566928"/>
          </a:xfrm>
          <a:prstGeom prst="roundRect">
            <a:avLst/>
          </a:prstGeom>
          <a:solidFill>
            <a:srgbClr val="FF7A30"/>
          </a:solidFill>
          <a:ln>
            <a:solidFill>
              <a:srgbClr val="FFFFFF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heat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thermal kick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025128" y="2112264"/>
            <a:ext cx="118872" cy="0"/>
          </a:xfrm>
          <a:prstGeom prst="line">
            <a:avLst/>
          </a:prstGeom>
          <a:noFill/>
          <a:ln w="12700">
            <a:solidFill>
              <a:srgbClr val="9AB0C9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9189720" y="1828800"/>
            <a:ext cx="1234440" cy="566928"/>
          </a:xfrm>
          <a:prstGeom prst="roundRect">
            <a:avLst/>
          </a:prstGeom>
          <a:solidFill>
            <a:srgbClr val="54E5A7"/>
          </a:solidFill>
          <a:ln>
            <a:solidFill>
              <a:srgbClr val="FFFFFF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S₁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 to fluorescent room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442448" y="2112264"/>
            <a:ext cx="118872" cy="0"/>
          </a:xfrm>
          <a:prstGeom prst="line">
            <a:avLst/>
          </a:prstGeom>
          <a:noFill/>
          <a:ln w="12700">
            <a:solidFill>
              <a:srgbClr val="9AB0C9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10607040" y="1828800"/>
            <a:ext cx="1234440" cy="566928"/>
          </a:xfrm>
          <a:prstGeom prst="roundRect">
            <a:avLst/>
          </a:prstGeom>
          <a:solidFill>
            <a:srgbClr val="FFB84D"/>
          </a:solidFill>
          <a:ln>
            <a:solidFill>
              <a:srgbClr val="FFFFFF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hν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photon leaves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0" y="3886200"/>
            <a:ext cx="4251960" cy="868680"/>
          </a:xfrm>
          <a:prstGeom prst="roundRect">
            <a:avLst/>
          </a:prstGeom>
          <a:solidFill>
            <a:srgbClr val="071A2F">
              <a:alpha val="95000"/>
            </a:srgbClr>
          </a:solidFill>
          <a:ln>
            <a:solidFill>
              <a:srgbClr val="35D5FF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AF6FF"/>
                </a:solidFill>
              </a:rPr>
              <a:t>Delayed = the photon is still fluorescence from S₁ → S₀, but it appears after the exciton detours through T₁.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780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w="12700">
            <a:solidFill>
              <a:srgbClr val="06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A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Simulation 1: why ΔEₛₜ must be small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B0C9"/>
                </a:solidFill>
              </a:rPr>
              <a:t>Thermal activation drops rapidly as the S₁–T₁ gap grows</a:t>
            </a:r>
            <a:endParaRPr lang="en-US" sz="8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1143000"/>
          <a:ext cx="640080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635240" y="1417320"/>
            <a:ext cx="3703320" cy="960120"/>
          </a:xfrm>
          <a:prstGeom prst="roundRect">
            <a:avLst/>
          </a:prstGeom>
          <a:solidFill>
            <a:srgbClr val="071A2F">
              <a:alpha val="95000"/>
            </a:srgbClr>
          </a:solidFill>
          <a:ln>
            <a:solidFill>
              <a:srgbClr val="35D5FF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AF6FF"/>
                </a:solidFill>
              </a:rPr>
              <a:t>At room temperature, kBT ≈ 0.026 eV. If ΔEₛₜ is only a few kBT, triplets can thermally climb back to S₁.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635240" y="2971800"/>
            <a:ext cx="3703320" cy="960120"/>
          </a:xfrm>
          <a:prstGeom prst="roundRect">
            <a:avLst/>
          </a:prstGeom>
          <a:solidFill>
            <a:srgbClr val="071A2F">
              <a:alpha val="95000"/>
            </a:srgbClr>
          </a:solidFill>
          <a:ln>
            <a:solidFill>
              <a:srgbClr val="FF4D6D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AF6FF"/>
                </a:solidFill>
              </a:rPr>
              <a:t>If ΔEₛₜ is large, the climb becomes a wall. RISC slows down and triplets are lost.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54112" y="4709160"/>
            <a:ext cx="3154680" cy="292608"/>
          </a:xfrm>
          <a:prstGeom prst="roundRect">
            <a:avLst>
              <a:gd name="adj" fmla="val 15625"/>
            </a:avLst>
          </a:prstGeom>
          <a:solidFill>
            <a:srgbClr val="0B203A">
              <a:alpha val="90000"/>
            </a:srgbClr>
          </a:solidFill>
          <a:ln>
            <a:solidFill>
              <a:srgbClr val="FFB84D">
                <a:alpha val="7500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B84D"/>
                </a:solidFill>
              </a:rPr>
              <a:t>molecular target: ΔEₛₜ ≲ 0.1 eV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780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w="12700">
            <a:solidFill>
              <a:srgbClr val="06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A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Molecular design: separate HOMO and LUMO just enough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B0C9"/>
                </a:solidFill>
              </a:rPr>
              <a:t>Donor–acceptor molecules reduce exchange by reducing orbital overlap</a:t>
            </a:r>
            <a:endParaRPr lang="en-US" sz="850" dirty="0"/>
          </a:p>
        </p:txBody>
      </p:sp>
      <p:pic>
        <p:nvPicPr>
          <p:cNvPr id="5" name="Image 0" descr="/mnt/data/a_high_quality_cinematic_sci_fi_scientific_illus_batch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61872"/>
            <a:ext cx="6583680" cy="3703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43800" y="1115568"/>
            <a:ext cx="3383280" cy="731520"/>
          </a:xfrm>
          <a:prstGeom prst="roundRect">
            <a:avLst/>
          </a:prstGeom>
          <a:solidFill>
            <a:srgbClr val="071A2F">
              <a:alpha val="95000"/>
            </a:srgbClr>
          </a:solidFill>
          <a:ln>
            <a:solidFill>
              <a:srgbClr val="FF7A30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AF6FF"/>
                </a:solidFill>
              </a:rPr>
              <a:t>Donor side: HOMO-rich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AF6FF"/>
                </a:solidFill>
              </a:rPr>
              <a:t>Accepts positive-hole character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543800" y="2194560"/>
            <a:ext cx="3383280" cy="731520"/>
          </a:xfrm>
          <a:prstGeom prst="roundRect">
            <a:avLst/>
          </a:prstGeom>
          <a:solidFill>
            <a:srgbClr val="071A2F">
              <a:alpha val="95000"/>
            </a:srgbClr>
          </a:solidFill>
          <a:ln>
            <a:solidFill>
              <a:srgbClr val="2775FF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AF6FF"/>
                </a:solidFill>
              </a:rPr>
              <a:t>Acceptor side: LUMO-rich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AF6FF"/>
                </a:solidFill>
              </a:rPr>
              <a:t>Hosts electron density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543800" y="3273552"/>
            <a:ext cx="3383280" cy="914400"/>
          </a:xfrm>
          <a:prstGeom prst="roundRect">
            <a:avLst/>
          </a:prstGeom>
          <a:solidFill>
            <a:srgbClr val="071A2F">
              <a:alpha val="95000"/>
            </a:srgbClr>
          </a:solidFill>
          <a:ln>
            <a:solidFill>
              <a:srgbClr val="35D5FF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EAF6FF"/>
                </a:solidFill>
              </a:rPr>
              <a:t>Twist/spacing lowers orbital overlap → smaller exchange integral → smaller ΔEₛₜ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60920" y="4617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AF6FF"/>
                </a:solidFill>
              </a:rPr>
              <a:t>ΔEₛₜ ∼ 2J   and   J ↓ when overlap ↓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780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w="12700">
            <a:solidFill>
              <a:srgbClr val="06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A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Simulation 2: the design trade-off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B0C9"/>
                </a:solidFill>
              </a:rPr>
              <a:t>Orbital overlap helps emission but increases ΔEₛₜ</a:t>
            </a:r>
            <a:endParaRPr lang="en-US" sz="8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1051560"/>
          <a:ext cx="640080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635240" y="1280160"/>
            <a:ext cx="3611880" cy="868680"/>
          </a:xfrm>
          <a:prstGeom prst="roundRect">
            <a:avLst/>
          </a:prstGeom>
          <a:solidFill>
            <a:srgbClr val="071A2F">
              <a:alpha val="95000"/>
            </a:srgbClr>
          </a:solidFill>
          <a:ln>
            <a:solidFill>
              <a:srgbClr val="FF4D6D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EAF6FF"/>
                </a:solidFill>
              </a:rPr>
              <a:t>Too much overlap: bright transition, but ΔEₛₜ becomes too large.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635240" y="2606040"/>
            <a:ext cx="3611880" cy="868680"/>
          </a:xfrm>
          <a:prstGeom prst="roundRect">
            <a:avLst/>
          </a:prstGeom>
          <a:solidFill>
            <a:srgbClr val="071A2F">
              <a:alpha val="95000"/>
            </a:srgbClr>
          </a:solidFill>
          <a:ln>
            <a:solidFill>
              <a:srgbClr val="2775FF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EAF6FF"/>
                </a:solidFill>
              </a:rPr>
              <a:t>Too little overlap: tiny ΔEₛₜ, but weak light emission.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635240" y="3931920"/>
            <a:ext cx="3611880" cy="731520"/>
          </a:xfrm>
          <a:prstGeom prst="roundRect">
            <a:avLst/>
          </a:prstGeom>
          <a:solidFill>
            <a:srgbClr val="071A2F">
              <a:alpha val="95000"/>
            </a:srgbClr>
          </a:solidFill>
          <a:ln>
            <a:solidFill>
              <a:srgbClr val="54E5A7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AF6FF"/>
                </a:solidFill>
              </a:rPr>
              <a:t>Best TADF design lives in the compromise zone.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780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w="12700">
            <a:solidFill>
              <a:srgbClr val="06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A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Simulation 3: prompt + delayed fluorescence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B0C9"/>
                </a:solidFill>
              </a:rPr>
              <a:t>Delayed emission appears after triplets recycle through RISC</a:t>
            </a:r>
            <a:endParaRPr lang="en-US" sz="8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1005840"/>
          <a:ext cx="658368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726680" y="1371600"/>
            <a:ext cx="3429000" cy="749808"/>
          </a:xfrm>
          <a:prstGeom prst="roundRect">
            <a:avLst/>
          </a:prstGeom>
          <a:solidFill>
            <a:srgbClr val="071A2F">
              <a:alpha val="95000"/>
            </a:srgbClr>
          </a:solidFill>
          <a:ln>
            <a:solidFill>
              <a:srgbClr val="FFB84D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EAF6FF"/>
                </a:solidFill>
              </a:rPr>
              <a:t>Prompt component: excitons already in S₁ emit quickly.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726680" y="2606040"/>
            <a:ext cx="3429000" cy="932688"/>
          </a:xfrm>
          <a:prstGeom prst="roundRect">
            <a:avLst/>
          </a:prstGeom>
          <a:solidFill>
            <a:srgbClr val="071A2F">
              <a:alpha val="95000"/>
            </a:srgbClr>
          </a:solidFill>
          <a:ln>
            <a:solidFill>
              <a:srgbClr val="9F7BFF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EAF6FF"/>
                </a:solidFill>
              </a:rPr>
              <a:t>Delayed component: T₁ waits, thermally returns to S₁, then emits.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26680" y="4114800"/>
            <a:ext cx="3429000" cy="868680"/>
          </a:xfrm>
          <a:prstGeom prst="roundRect">
            <a:avLst/>
          </a:prstGeom>
          <a:solidFill>
            <a:srgbClr val="071A2F">
              <a:alpha val="95000"/>
            </a:srgbClr>
          </a:solidFill>
          <a:ln>
            <a:solidFill>
              <a:srgbClr val="FF4D6D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EAF6FF"/>
                </a:solidFill>
              </a:rPr>
              <a:t>Long triplet lifetimes increase collision losses, so fast RISC is desirable.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780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w="12700">
            <a:solidFill>
              <a:srgbClr val="06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A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Device efficiency: internal ≠ external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B0C9"/>
                </a:solidFill>
              </a:rPr>
              <a:t>TADF improves exciton use, but optics and losses still matter</a:t>
            </a:r>
            <a:endParaRPr lang="en-US" sz="8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1143000"/>
          <a:ext cx="58521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406640" y="1234440"/>
            <a:ext cx="3886200" cy="868680"/>
          </a:xfrm>
          <a:prstGeom prst="roundRect">
            <a:avLst/>
          </a:prstGeom>
          <a:solidFill>
            <a:srgbClr val="071A2F">
              <a:alpha val="95000"/>
            </a:srgbClr>
          </a:solidFill>
          <a:ln>
            <a:solidFill>
              <a:srgbClr val="54E5A7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EAF6FF"/>
                </a:solidFill>
              </a:rPr>
              <a:t>Internal quantum efficiency: fraction of excitons that become photons inside the device.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406640" y="2560320"/>
            <a:ext cx="3886200" cy="868680"/>
          </a:xfrm>
          <a:prstGeom prst="roundRect">
            <a:avLst/>
          </a:prstGeom>
          <a:solidFill>
            <a:srgbClr val="071A2F">
              <a:alpha val="95000"/>
            </a:srgbClr>
          </a:solidFill>
          <a:ln>
            <a:solidFill>
              <a:srgbClr val="2775FF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EAF6FF"/>
                </a:solidFill>
              </a:rPr>
              <a:t>External quantum efficiency: photons that actually escape the OLED stack.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406640" y="3886200"/>
            <a:ext cx="3886200" cy="914400"/>
          </a:xfrm>
          <a:prstGeom prst="roundRect">
            <a:avLst/>
          </a:prstGeom>
          <a:solidFill>
            <a:srgbClr val="071A2F">
              <a:alpha val="95000"/>
            </a:srgbClr>
          </a:solidFill>
          <a:ln>
            <a:solidFill>
              <a:srgbClr val="FF4D6D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EAF6FF"/>
                </a:solidFill>
              </a:rPr>
              <a:t>Roll-off: at high brightness, exciton–exciton and exciton–charge collisions reduce efficiency.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780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w="12700">
            <a:solidFill>
              <a:srgbClr val="06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A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Good TADF molecules still need the right neighbourhood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B0C9"/>
                </a:solidFill>
              </a:rPr>
              <a:t>Hosts and transport layers control where energy goes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60120" y="1234440"/>
            <a:ext cx="2423160" cy="960120"/>
          </a:xfrm>
          <a:prstGeom prst="roundRect">
            <a:avLst/>
          </a:prstGeom>
          <a:solidFill>
            <a:srgbClr val="0A203A">
              <a:alpha val="95000"/>
            </a:srgbClr>
          </a:solidFill>
          <a:ln>
            <a:solidFill>
              <a:srgbClr val="2775FF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EAF6FF"/>
                </a:solidFill>
              </a:rPr>
              <a:t>ETL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EAF6FF"/>
                </a:solidFill>
              </a:rPr>
              <a:t>electron transport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0" y="1719072"/>
            <a:ext cx="457200" cy="0"/>
          </a:xfrm>
          <a:prstGeom prst="line">
            <a:avLst/>
          </a:prstGeom>
          <a:noFill/>
          <a:ln w="12700">
            <a:solidFill>
              <a:srgbClr val="9AB0C9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160520" y="1234440"/>
            <a:ext cx="2423160" cy="960120"/>
          </a:xfrm>
          <a:prstGeom prst="roundRect">
            <a:avLst/>
          </a:prstGeom>
          <a:solidFill>
            <a:srgbClr val="2E2104">
              <a:alpha val="95000"/>
            </a:srgbClr>
          </a:solidFill>
          <a:ln>
            <a:solidFill>
              <a:srgbClr val="FFB84D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EAF6FF"/>
                </a:solidFill>
              </a:rPr>
              <a:t>HOST + TADF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EAF6FF"/>
                </a:solidFill>
              </a:rPr>
              <a:t>emitter isolated in host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675120" y="1719072"/>
            <a:ext cx="457200" cy="0"/>
          </a:xfrm>
          <a:prstGeom prst="line">
            <a:avLst/>
          </a:prstGeom>
          <a:noFill/>
          <a:ln w="12700">
            <a:solidFill>
              <a:srgbClr val="9AB0C9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7360920" y="1234440"/>
            <a:ext cx="2423160" cy="960120"/>
          </a:xfrm>
          <a:prstGeom prst="roundRect">
            <a:avLst/>
          </a:prstGeom>
          <a:solidFill>
            <a:srgbClr val="0A203A">
              <a:alpha val="95000"/>
            </a:srgbClr>
          </a:solidFill>
          <a:ln>
            <a:solidFill>
              <a:srgbClr val="FF7A30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EAF6FF"/>
                </a:solidFill>
              </a:rPr>
              <a:t>HTL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EAF6FF"/>
                </a:solidFill>
              </a:rPr>
              <a:t>hole transport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0" y="3063240"/>
            <a:ext cx="201168" cy="201168"/>
          </a:xfrm>
          <a:prstGeom prst="ellipse">
            <a:avLst/>
          </a:prstGeom>
          <a:solidFill>
            <a:srgbClr val="54E5A7"/>
          </a:solidFill>
          <a:ln w="12700">
            <a:solidFill>
              <a:srgbClr val="06111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0" y="2834640"/>
            <a:ext cx="201168" cy="201168"/>
          </a:xfrm>
          <a:prstGeom prst="ellipse">
            <a:avLst/>
          </a:prstGeom>
          <a:solidFill>
            <a:srgbClr val="9F7BFF"/>
          </a:solidFill>
          <a:ln w="12700">
            <a:solidFill>
              <a:srgbClr val="06111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60520" y="2606040"/>
            <a:ext cx="201168" cy="201168"/>
          </a:xfrm>
          <a:prstGeom prst="ellipse">
            <a:avLst/>
          </a:prstGeom>
          <a:solidFill>
            <a:srgbClr val="35D5FF"/>
          </a:solidFill>
          <a:ln w="12700">
            <a:solidFill>
              <a:srgbClr val="06111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23560" y="3246120"/>
            <a:ext cx="201168" cy="201168"/>
          </a:xfrm>
          <a:prstGeom prst="ellipse">
            <a:avLst/>
          </a:prstGeom>
          <a:solidFill>
            <a:srgbClr val="FFB84D"/>
          </a:solidFill>
          <a:ln w="12700">
            <a:solidFill>
              <a:srgbClr val="06111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37033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energy levels must confine excitons on the emitter, not steal them.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874520" y="4709160"/>
            <a:ext cx="8458200" cy="777240"/>
          </a:xfrm>
          <a:prstGeom prst="roundRect">
            <a:avLst/>
          </a:prstGeom>
          <a:solidFill>
            <a:srgbClr val="071A2F">
              <a:alpha val="95000"/>
            </a:srgbClr>
          </a:solidFill>
          <a:ln>
            <a:solidFill>
              <a:srgbClr val="35D5FF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AF6FF"/>
                </a:solidFill>
              </a:rPr>
              <a:t>Analogy: the TADF molecule is the performer; the host is the stage, lighting, crowd control and safety barrier.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780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w="12700">
            <a:solidFill>
              <a:srgbClr val="06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A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Click-through animation: charge injection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B0C9"/>
                </a:solidFill>
              </a:rPr>
              <a:t>Step 1 of the mechanism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920240" y="3840480"/>
            <a:ext cx="8229600" cy="0"/>
          </a:xfrm>
          <a:prstGeom prst="line">
            <a:avLst/>
          </a:prstGeom>
          <a:noFill/>
          <a:ln w="12700">
            <a:solidFill>
              <a:srgbClr val="35D5FF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0" y="39502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organic emissive layer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775FF"/>
                </a:solidFill>
              </a:rPr>
              <a:t>e⁻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469880" y="182880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7A30"/>
                </a:solidFill>
              </a:rPr>
              <a:t>h⁺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783080" y="3154680"/>
            <a:ext cx="2514600" cy="576072"/>
          </a:xfrm>
          <a:prstGeom prst="line">
            <a:avLst/>
          </a:prstGeom>
          <a:noFill/>
          <a:ln w="12700">
            <a:solidFill>
              <a:srgbClr val="2775FF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0378440" y="3154680"/>
            <a:ext cx="-2468880" cy="576072"/>
          </a:xfrm>
          <a:prstGeom prst="line">
            <a:avLst/>
          </a:prstGeom>
          <a:noFill/>
          <a:ln w="12700">
            <a:solidFill>
              <a:srgbClr val="FF7A30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880360" y="5074920"/>
            <a:ext cx="6446520" cy="658368"/>
          </a:xfrm>
          <a:prstGeom prst="roundRect">
            <a:avLst/>
          </a:prstGeom>
          <a:solidFill>
            <a:srgbClr val="071A2F">
              <a:alpha val="95000"/>
            </a:srgbClr>
          </a:solidFill>
          <a:ln>
            <a:solidFill>
              <a:srgbClr val="35D5FF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AF6FF"/>
                </a:solidFill>
              </a:rPr>
              <a:t>Electrons and holes are injected from opposite electrodes and driven toward each other.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780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w="12700">
            <a:solidFill>
              <a:srgbClr val="06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A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Click-through animation: exciton formation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B0C9"/>
                </a:solidFill>
              </a:rPr>
              <a:t>Step 2 of the mechanism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920240" y="3840480"/>
            <a:ext cx="8229600" cy="0"/>
          </a:xfrm>
          <a:prstGeom prst="line">
            <a:avLst/>
          </a:prstGeom>
          <a:noFill/>
          <a:ln w="12700">
            <a:solidFill>
              <a:srgbClr val="35D5FF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49240" y="2423160"/>
            <a:ext cx="1508760" cy="1508760"/>
          </a:xfrm>
          <a:prstGeom prst="ellipse">
            <a:avLst/>
          </a:prstGeom>
          <a:solidFill>
            <a:srgbClr val="1A5FAA">
              <a:alpha val="75000"/>
            </a:srgbClr>
          </a:solidFill>
          <a:ln>
            <a:solidFill>
              <a:srgbClr val="35D5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AF6FF"/>
                </a:solidFill>
              </a:rPr>
              <a:t>e⁻  +  h⁺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193792" y="4069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5D5FF"/>
                </a:solidFill>
              </a:rPr>
              <a:t>exciton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0" y="5074920"/>
            <a:ext cx="6675120" cy="658368"/>
          </a:xfrm>
          <a:prstGeom prst="roundRect">
            <a:avLst/>
          </a:prstGeom>
          <a:solidFill>
            <a:srgbClr val="071A2F">
              <a:alpha val="95000"/>
            </a:srgbClr>
          </a:solidFill>
          <a:ln>
            <a:solidFill>
              <a:srgbClr val="9F7BFF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AF6FF"/>
                </a:solidFill>
              </a:rPr>
              <a:t>The electron–hole pair is bound: an exciton. Now the decisive variable is spin.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780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w="12700">
            <a:solidFill>
              <a:srgbClr val="06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A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Click-through animation: the spin lottery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B0C9"/>
                </a:solidFill>
              </a:rPr>
              <a:t>Step 3 of the mechanism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834640" y="2240280"/>
            <a:ext cx="1234440" cy="566928"/>
          </a:xfrm>
          <a:prstGeom prst="roundRect">
            <a:avLst/>
          </a:prstGeom>
          <a:solidFill>
            <a:srgbClr val="54E5A7"/>
          </a:solidFill>
          <a:ln>
            <a:solidFill>
              <a:srgbClr val="FFFFFF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S₁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25%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06240" y="2240280"/>
            <a:ext cx="1234440" cy="566928"/>
          </a:xfrm>
          <a:prstGeom prst="roundRect">
            <a:avLst/>
          </a:prstGeom>
          <a:solidFill>
            <a:srgbClr val="9F7BFF"/>
          </a:solidFill>
          <a:ln>
            <a:solidFill>
              <a:srgbClr val="FFFFFF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T₁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75% total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577840" y="2240280"/>
            <a:ext cx="1234440" cy="566928"/>
          </a:xfrm>
          <a:prstGeom prst="roundRect">
            <a:avLst/>
          </a:prstGeom>
          <a:solidFill>
            <a:srgbClr val="9F7BFF"/>
          </a:solidFill>
          <a:ln>
            <a:solidFill>
              <a:srgbClr val="FFFFFF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T₁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75% total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49440" y="2240280"/>
            <a:ext cx="1234440" cy="566928"/>
          </a:xfrm>
          <a:prstGeom prst="roundRect">
            <a:avLst/>
          </a:prstGeom>
          <a:solidFill>
            <a:srgbClr val="9F7BFF"/>
          </a:solidFill>
          <a:ln>
            <a:solidFill>
              <a:srgbClr val="FFFFFF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T₁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75% total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11680" y="36576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formation gives one singlet door and three triplet doors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43200" y="4919472"/>
            <a:ext cx="6583680" cy="749808"/>
          </a:xfrm>
          <a:prstGeom prst="roundRect">
            <a:avLst/>
          </a:prstGeom>
          <a:solidFill>
            <a:srgbClr val="071A2F">
              <a:alpha val="95000"/>
            </a:srgbClr>
          </a:solidFill>
          <a:ln>
            <a:solidFill>
              <a:srgbClr val="FF4D6D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AF6FF"/>
                </a:solidFill>
              </a:rPr>
              <a:t>Conventional fluorescence uses the green door easily, but struggles with the three purple doors.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780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w="12700">
            <a:solidFill>
              <a:srgbClr val="06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A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Click-through animation: the TADF recycling route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B0C9"/>
                </a:solidFill>
              </a:rPr>
              <a:t>Step 4: triplets return to singlets before emitting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468880" y="2468880"/>
            <a:ext cx="1234440" cy="566928"/>
          </a:xfrm>
          <a:prstGeom prst="roundRect">
            <a:avLst/>
          </a:prstGeom>
          <a:solidFill>
            <a:srgbClr val="9F7BFF"/>
          </a:solidFill>
          <a:ln>
            <a:solidFill>
              <a:srgbClr val="FFFFFF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T₁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triplet room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749040" y="2761488"/>
            <a:ext cx="1005840" cy="0"/>
          </a:xfrm>
          <a:prstGeom prst="line">
            <a:avLst/>
          </a:prstGeom>
          <a:noFill/>
          <a:ln w="12700">
            <a:solidFill>
              <a:srgbClr val="FF7A30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005072" y="228600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30"/>
                </a:solidFill>
              </a:rPr>
              <a:t>heat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2468880"/>
            <a:ext cx="1234440" cy="566928"/>
          </a:xfrm>
          <a:prstGeom prst="roundRect">
            <a:avLst/>
          </a:prstGeom>
          <a:solidFill>
            <a:srgbClr val="54E5A7"/>
          </a:solidFill>
          <a:ln>
            <a:solidFill>
              <a:srgbClr val="FFFFFF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S₁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light room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36208" y="2761488"/>
            <a:ext cx="1078992" cy="0"/>
          </a:xfrm>
          <a:prstGeom prst="line">
            <a:avLst/>
          </a:prstGeom>
          <a:noFill/>
          <a:ln w="12700">
            <a:solidFill>
              <a:srgbClr val="FFB84D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629400" y="228600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84D"/>
                </a:solidFill>
              </a:rPr>
              <a:t>hν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98080" y="2468880"/>
            <a:ext cx="1234440" cy="566928"/>
          </a:xfrm>
          <a:prstGeom prst="roundRect">
            <a:avLst/>
          </a:prstGeom>
          <a:solidFill>
            <a:srgbClr val="19304B"/>
          </a:solidFill>
          <a:ln>
            <a:solidFill>
              <a:srgbClr val="FFFFFF">
                <a:alpha val="4000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S₀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ground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57400" y="4617720"/>
            <a:ext cx="7955280" cy="868680"/>
          </a:xfrm>
          <a:prstGeom prst="roundRect">
            <a:avLst/>
          </a:prstGeom>
          <a:solidFill>
            <a:srgbClr val="071A2F">
              <a:alpha val="95000"/>
            </a:srgbClr>
          </a:solidFill>
          <a:ln>
            <a:solidFill>
              <a:srgbClr val="35D5FF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EAF6FF"/>
                </a:solidFill>
              </a:rPr>
              <a:t>TADF does not make triplets emit directly. It converts them back into singlets, then uses ordinary fluorescence.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780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11F"/>
          </a:solidFill>
          <a:ln w="12700">
            <a:solidFill>
              <a:srgbClr val="0611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AF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sentence version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B0C9"/>
                </a:solidFill>
              </a:rPr>
              <a:t>Everything in the talk reduces to this chain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14400" y="114300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AF6FF"/>
                </a:solidFill>
              </a:rPr>
              <a:t>TADF is a quantum recycling strategy.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1097280" cy="347472"/>
          </a:xfrm>
          <a:prstGeom prst="roundRect">
            <a:avLst/>
          </a:prstGeom>
          <a:solidFill>
            <a:srgbClr val="0B203A"/>
          </a:solidFill>
          <a:ln>
            <a:solidFill>
              <a:srgbClr val="35D5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6FF"/>
                </a:solidFill>
              </a:rPr>
              <a:t>voltage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01368" y="2916936"/>
            <a:ext cx="192024" cy="0"/>
          </a:xfrm>
          <a:prstGeom prst="line">
            <a:avLst/>
          </a:prstGeom>
          <a:noFill/>
          <a:ln w="12700">
            <a:solidFill>
              <a:srgbClr val="9AB0C9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103120" y="2743200"/>
            <a:ext cx="1097280" cy="347472"/>
          </a:xfrm>
          <a:prstGeom prst="roundRect">
            <a:avLst/>
          </a:prstGeom>
          <a:solidFill>
            <a:srgbClr val="0B203A"/>
          </a:solidFill>
          <a:ln>
            <a:solidFill>
              <a:srgbClr val="35D5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6FF"/>
                </a:solidFill>
              </a:rPr>
              <a:t>e⁻ + h⁺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18688" y="2916936"/>
            <a:ext cx="192024" cy="0"/>
          </a:xfrm>
          <a:prstGeom prst="line">
            <a:avLst/>
          </a:prstGeom>
          <a:noFill/>
          <a:ln w="12700">
            <a:solidFill>
              <a:srgbClr val="9AB0C9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520440" y="2743200"/>
            <a:ext cx="1097280" cy="347472"/>
          </a:xfrm>
          <a:prstGeom prst="roundRect">
            <a:avLst/>
          </a:prstGeom>
          <a:solidFill>
            <a:srgbClr val="0B203A"/>
          </a:solidFill>
          <a:ln>
            <a:solidFill>
              <a:srgbClr val="35D5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6FF"/>
                </a:solidFill>
              </a:rPr>
              <a:t>exciton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36008" y="2916936"/>
            <a:ext cx="192024" cy="0"/>
          </a:xfrm>
          <a:prstGeom prst="line">
            <a:avLst/>
          </a:prstGeom>
          <a:noFill/>
          <a:ln w="12700">
            <a:solidFill>
              <a:srgbClr val="9AB0C9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937760" y="2743200"/>
            <a:ext cx="1097280" cy="347472"/>
          </a:xfrm>
          <a:prstGeom prst="roundRect">
            <a:avLst/>
          </a:prstGeom>
          <a:solidFill>
            <a:srgbClr val="0B203A"/>
          </a:solidFill>
          <a:ln>
            <a:solidFill>
              <a:srgbClr val="35D5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6FF"/>
                </a:solidFill>
              </a:rPr>
              <a:t>S/T spin split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53328" y="2916936"/>
            <a:ext cx="192024" cy="0"/>
          </a:xfrm>
          <a:prstGeom prst="line">
            <a:avLst/>
          </a:prstGeom>
          <a:noFill/>
          <a:ln w="12700">
            <a:solidFill>
              <a:srgbClr val="9AB0C9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355080" y="2743200"/>
            <a:ext cx="1097280" cy="347472"/>
          </a:xfrm>
          <a:prstGeom prst="roundRect">
            <a:avLst/>
          </a:prstGeom>
          <a:solidFill>
            <a:srgbClr val="0B203A"/>
          </a:solidFill>
          <a:ln>
            <a:solidFill>
              <a:srgbClr val="9F7B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6FF"/>
                </a:solidFill>
              </a:rPr>
              <a:t>T₁ bottleneck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70648" y="2916936"/>
            <a:ext cx="192024" cy="0"/>
          </a:xfrm>
          <a:prstGeom prst="line">
            <a:avLst/>
          </a:prstGeom>
          <a:noFill/>
          <a:ln w="12700">
            <a:solidFill>
              <a:srgbClr val="9AB0C9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772400" y="2743200"/>
            <a:ext cx="1097280" cy="347472"/>
          </a:xfrm>
          <a:prstGeom prst="roundRect">
            <a:avLst/>
          </a:prstGeom>
          <a:solidFill>
            <a:srgbClr val="0B203A"/>
          </a:solidFill>
          <a:ln>
            <a:solidFill>
              <a:srgbClr val="9F7B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6FF"/>
                </a:solidFill>
              </a:rPr>
              <a:t>RISC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887968" y="2916936"/>
            <a:ext cx="192024" cy="0"/>
          </a:xfrm>
          <a:prstGeom prst="line">
            <a:avLst/>
          </a:prstGeom>
          <a:noFill/>
          <a:ln w="12700">
            <a:solidFill>
              <a:srgbClr val="9AB0C9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189720" y="2743200"/>
            <a:ext cx="1097280" cy="347472"/>
          </a:xfrm>
          <a:prstGeom prst="roundRect">
            <a:avLst/>
          </a:prstGeom>
          <a:solidFill>
            <a:srgbClr val="0B203A"/>
          </a:solidFill>
          <a:ln>
            <a:solidFill>
              <a:srgbClr val="FFB84D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6FF"/>
                </a:solidFill>
              </a:rPr>
              <a:t>S₁ fluorescence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305288" y="2916936"/>
            <a:ext cx="192024" cy="0"/>
          </a:xfrm>
          <a:prstGeom prst="line">
            <a:avLst/>
          </a:prstGeom>
          <a:noFill/>
          <a:ln w="12700">
            <a:solidFill>
              <a:srgbClr val="9AB0C9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0607040" y="2743200"/>
            <a:ext cx="1097280" cy="347472"/>
          </a:xfrm>
          <a:prstGeom prst="roundRect">
            <a:avLst/>
          </a:prstGeom>
          <a:solidFill>
            <a:srgbClr val="0B203A"/>
          </a:solidFill>
          <a:ln>
            <a:solidFill>
              <a:srgbClr val="FFB84D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6FF"/>
                </a:solidFill>
              </a:rPr>
              <a:t>photon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34440" y="4617720"/>
            <a:ext cx="9692640" cy="914400"/>
          </a:xfrm>
          <a:prstGeom prst="roundRect">
            <a:avLst/>
          </a:prstGeom>
          <a:solidFill>
            <a:srgbClr val="071A2F">
              <a:alpha val="95000"/>
            </a:srgbClr>
          </a:solidFill>
          <a:ln>
            <a:solidFill>
              <a:srgbClr val="54E5A7">
                <a:alpha val="85000"/>
              </a:srgbClr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AF6FF"/>
                </a:solidFill>
              </a:rPr>
              <a:t>Design levers: lower ΔEₛₜ, preserve oscillator strength, speed up RISC, suppress triplet losses, and engineer the host/device stack.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3566160" y="5870448"/>
            <a:ext cx="5074920" cy="292608"/>
          </a:xfrm>
          <a:prstGeom prst="roundRect">
            <a:avLst>
              <a:gd name="adj" fmla="val 15625"/>
            </a:avLst>
          </a:prstGeom>
          <a:solidFill>
            <a:srgbClr val="0B203A">
              <a:alpha val="90000"/>
            </a:srgbClr>
          </a:solidFill>
          <a:ln>
            <a:solidFill>
              <a:srgbClr val="FFB84D">
                <a:alpha val="7500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B84D"/>
                </a:solidFill>
              </a:rPr>
              <a:t>remember: triplets are not wasted if you can recycle them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780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TADF Semiconductors for OLEDs</dc:title>
  <dc:subject>TADF semiconductor OLEDs</dc:subject>
  <dc:creator>OpenAI</dc:creator>
  <cp:lastModifiedBy>OpenAI</cp:lastModifiedBy>
  <cp:revision>1</cp:revision>
  <dcterms:created xsi:type="dcterms:W3CDTF">2026-10-07T10:36:28Z</dcterms:created>
  <dcterms:modified xsi:type="dcterms:W3CDTF">2026-10-07T10:36:28Z</dcterms:modified>
</cp:coreProperties>
</file>